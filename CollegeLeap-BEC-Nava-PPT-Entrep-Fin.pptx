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Caveat"/>
      <p:regular r:id="rId30"/>
      <p:bold r:id="rId31"/>
    </p:embeddedFont>
    <p:embeddedFont>
      <p:font typeface="Roboto"/>
      <p:regular r:id="rId32"/>
      <p:bold r:id="rId33"/>
      <p:italic r:id="rId34"/>
      <p:boldItalic r:id="rId35"/>
    </p:embeddedFont>
    <p:embeddedFont>
      <p:font typeface="Montserrat"/>
      <p:regular r:id="rId36"/>
      <p:bold r:id="rId37"/>
      <p:italic r:id="rId38"/>
      <p:boldItalic r:id="rId39"/>
    </p:embeddedFont>
    <p:embeddedFont>
      <p:font typeface="Lato"/>
      <p:regular r:id="rId40"/>
      <p:bold r:id="rId41"/>
      <p:italic r:id="rId42"/>
      <p:boldItalic r:id="rId43"/>
    </p:embeddedFont>
    <p:embeddedFont>
      <p:font typeface="Exo 2"/>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20" Type="http://schemas.openxmlformats.org/officeDocument/2006/relationships/slide" Target="slides/slide16.xml"/><Relationship Id="rId42" Type="http://schemas.openxmlformats.org/officeDocument/2006/relationships/font" Target="fonts/Lato-italic.fntdata"/><Relationship Id="rId41" Type="http://schemas.openxmlformats.org/officeDocument/2006/relationships/font" Target="fonts/Lato-bold.fntdata"/><Relationship Id="rId22" Type="http://schemas.openxmlformats.org/officeDocument/2006/relationships/slide" Target="slides/slide18.xml"/><Relationship Id="rId44" Type="http://schemas.openxmlformats.org/officeDocument/2006/relationships/font" Target="fonts/Exo2-regular.fntdata"/><Relationship Id="rId21" Type="http://schemas.openxmlformats.org/officeDocument/2006/relationships/slide" Target="slides/slide17.xml"/><Relationship Id="rId43" Type="http://schemas.openxmlformats.org/officeDocument/2006/relationships/font" Target="fonts/Lato-boldItalic.fntdata"/><Relationship Id="rId24" Type="http://schemas.openxmlformats.org/officeDocument/2006/relationships/slide" Target="slides/slide20.xml"/><Relationship Id="rId46" Type="http://schemas.openxmlformats.org/officeDocument/2006/relationships/font" Target="fonts/Exo2-italic.fntdata"/><Relationship Id="rId23" Type="http://schemas.openxmlformats.org/officeDocument/2006/relationships/slide" Target="slides/slide19.xml"/><Relationship Id="rId45" Type="http://schemas.openxmlformats.org/officeDocument/2006/relationships/font" Target="fonts/Exo2-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schemas.openxmlformats.org/officeDocument/2006/relationships/font" Target="fonts/Exo2-boldItalic.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aveat-bold.fntdata"/><Relationship Id="rId30" Type="http://schemas.openxmlformats.org/officeDocument/2006/relationships/font" Target="fonts/Caveat-regular.fntdata"/><Relationship Id="rId11" Type="http://schemas.openxmlformats.org/officeDocument/2006/relationships/slide" Target="slides/slide7.xml"/><Relationship Id="rId33" Type="http://schemas.openxmlformats.org/officeDocument/2006/relationships/font" Target="fonts/Roboto-bold.fntdata"/><Relationship Id="rId10" Type="http://schemas.openxmlformats.org/officeDocument/2006/relationships/slide" Target="slides/slide6.xml"/><Relationship Id="rId32" Type="http://schemas.openxmlformats.org/officeDocument/2006/relationships/font" Target="fonts/Roboto-regular.fntdata"/><Relationship Id="rId13" Type="http://schemas.openxmlformats.org/officeDocument/2006/relationships/slide" Target="slides/slide9.xml"/><Relationship Id="rId35" Type="http://schemas.openxmlformats.org/officeDocument/2006/relationships/font" Target="fonts/Roboto-boldItalic.fntdata"/><Relationship Id="rId12" Type="http://schemas.openxmlformats.org/officeDocument/2006/relationships/slide" Target="slides/slide8.xml"/><Relationship Id="rId34" Type="http://schemas.openxmlformats.org/officeDocument/2006/relationships/font" Target="fonts/Roboto-italic.fntdata"/><Relationship Id="rId15" Type="http://schemas.openxmlformats.org/officeDocument/2006/relationships/slide" Target="slides/slide11.xml"/><Relationship Id="rId37" Type="http://schemas.openxmlformats.org/officeDocument/2006/relationships/font" Target="fonts/Montserrat-bold.fntdata"/><Relationship Id="rId14" Type="http://schemas.openxmlformats.org/officeDocument/2006/relationships/slide" Target="slides/slide10.xml"/><Relationship Id="rId36" Type="http://schemas.openxmlformats.org/officeDocument/2006/relationships/font" Target="fonts/Montserrat-regular.fntdata"/><Relationship Id="rId17" Type="http://schemas.openxmlformats.org/officeDocument/2006/relationships/slide" Target="slides/slide13.xml"/><Relationship Id="rId39" Type="http://schemas.openxmlformats.org/officeDocument/2006/relationships/font" Target="fonts/Montserrat-boldItalic.fntdata"/><Relationship Id="rId16" Type="http://schemas.openxmlformats.org/officeDocument/2006/relationships/slide" Target="slides/slide12.xml"/><Relationship Id="rId38" Type="http://schemas.openxmlformats.org/officeDocument/2006/relationships/font" Target="fonts/Montserrat-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97e6f30f41_0_84:notes"/>
          <p:cNvSpPr/>
          <p:nvPr>
            <p:ph idx="2" type="sldImg"/>
          </p:nvPr>
        </p:nvSpPr>
        <p:spPr>
          <a:xfrm>
            <a:off x="381163"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97e6f30f41_0_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SLIDES_API1465198176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 name="Google Shape;121;SLIDES_API1465198176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This is Slido interaction slide, please don't delete it.</a:t>
            </a:r>
            <a:br>
              <a:rPr lang="en-US"/>
            </a:br>
            <a:r>
              <a:rPr lang="en-US"/>
              <a:t>✅ Click on 'Present with Slido' and the poll will launch automatically when you get to this slide.</a:t>
            </a:r>
            <a:endParaRPr/>
          </a:p>
        </p:txBody>
      </p:sp>
      <p:sp>
        <p:nvSpPr>
          <p:cNvPr id="122" name="Google Shape;122;SLIDES_API1465198176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98cef7198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solidFill>
                <a:srgbClr val="222222"/>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400"/>
              <a:buNone/>
            </a:pPr>
            <a:r>
              <a:t/>
            </a:r>
            <a:endParaRPr>
              <a:solidFill>
                <a:srgbClr val="222222"/>
              </a:solidFill>
              <a:highlight>
                <a:srgbClr val="FFFFFF"/>
              </a:highlight>
              <a:latin typeface="Roboto"/>
              <a:ea typeface="Roboto"/>
              <a:cs typeface="Roboto"/>
              <a:sym typeface="Roboto"/>
            </a:endParaRPr>
          </a:p>
        </p:txBody>
      </p:sp>
      <p:sp>
        <p:nvSpPr>
          <p:cNvPr id="139" name="Google Shape;139;g98cef7198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97e6f30f41_0_3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solidFill>
                <a:srgbClr val="222222"/>
              </a:solidFill>
              <a:highlight>
                <a:srgbClr val="FFFFFF"/>
              </a:highlight>
              <a:latin typeface="Roboto"/>
              <a:ea typeface="Roboto"/>
              <a:cs typeface="Roboto"/>
              <a:sym typeface="Roboto"/>
            </a:endParaRPr>
          </a:p>
        </p:txBody>
      </p:sp>
      <p:sp>
        <p:nvSpPr>
          <p:cNvPr id="149" name="Google Shape;149;g97e6f30f41_0_3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97e6f30f41_0_3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solidFill>
                <a:srgbClr val="222222"/>
              </a:solidFill>
              <a:highlight>
                <a:srgbClr val="FFFFFF"/>
              </a:highlight>
              <a:latin typeface="Roboto"/>
              <a:ea typeface="Roboto"/>
              <a:cs typeface="Roboto"/>
              <a:sym typeface="Roboto"/>
            </a:endParaRPr>
          </a:p>
        </p:txBody>
      </p:sp>
      <p:sp>
        <p:nvSpPr>
          <p:cNvPr id="160" name="Google Shape;160;g97e6f30f41_0_3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97e6f30f41_0_3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solidFill>
                <a:srgbClr val="222222"/>
              </a:solidFill>
              <a:highlight>
                <a:srgbClr val="FFFFFF"/>
              </a:highlight>
              <a:latin typeface="Roboto"/>
              <a:ea typeface="Roboto"/>
              <a:cs typeface="Roboto"/>
              <a:sym typeface="Roboto"/>
            </a:endParaRPr>
          </a:p>
        </p:txBody>
      </p:sp>
      <p:sp>
        <p:nvSpPr>
          <p:cNvPr id="167" name="Google Shape;167;g97e6f30f41_0_3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rgbClr val="222222"/>
                </a:solidFill>
                <a:highlight>
                  <a:srgbClr val="FFFFFF"/>
                </a:highlight>
                <a:latin typeface="Roboto"/>
                <a:ea typeface="Roboto"/>
                <a:cs typeface="Roboto"/>
                <a:sym typeface="Roboto"/>
              </a:rPr>
              <a:t>In simple terms, </a:t>
            </a:r>
            <a:r>
              <a:rPr b="1" lang="en-US">
                <a:solidFill>
                  <a:srgbClr val="222222"/>
                </a:solidFill>
                <a:highlight>
                  <a:srgbClr val="FFFFFF"/>
                </a:highlight>
                <a:latin typeface="Roboto"/>
                <a:ea typeface="Roboto"/>
                <a:cs typeface="Roboto"/>
                <a:sym typeface="Roboto"/>
              </a:rPr>
              <a:t>risk</a:t>
            </a:r>
            <a:r>
              <a:rPr lang="en-US">
                <a:solidFill>
                  <a:srgbClr val="222222"/>
                </a:solidFill>
                <a:highlight>
                  <a:srgbClr val="FFFFFF"/>
                </a:highlight>
                <a:latin typeface="Roboto"/>
                <a:ea typeface="Roboto"/>
                <a:cs typeface="Roboto"/>
                <a:sym typeface="Roboto"/>
              </a:rPr>
              <a:t> is the possibility of something bad happening. </a:t>
            </a:r>
            <a:r>
              <a:rPr b="1" lang="en-US">
                <a:solidFill>
                  <a:srgbClr val="222222"/>
                </a:solidFill>
                <a:highlight>
                  <a:srgbClr val="FFFFFF"/>
                </a:highlight>
                <a:latin typeface="Roboto"/>
                <a:ea typeface="Roboto"/>
                <a:cs typeface="Roboto"/>
                <a:sym typeface="Roboto"/>
              </a:rPr>
              <a:t>Risk</a:t>
            </a:r>
            <a:r>
              <a:rPr lang="en-US">
                <a:solidFill>
                  <a:srgbClr val="222222"/>
                </a:solidFill>
                <a:highlight>
                  <a:srgbClr val="FFFFFF"/>
                </a:highlight>
                <a:latin typeface="Roboto"/>
                <a:ea typeface="Roboto"/>
                <a:cs typeface="Roboto"/>
                <a:sym typeface="Roboto"/>
              </a:rPr>
              <a:t> involves uncertainty about the effects/implications of an activity with respect to something that humans value (such as health, well-being, wealth, property or the environment), often focusing on negative, undesirable consequences.</a:t>
            </a:r>
            <a:endParaRPr>
              <a:solidFill>
                <a:srgbClr val="222222"/>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400"/>
              <a:buNone/>
            </a:pPr>
            <a:r>
              <a:t/>
            </a:r>
            <a:endParaRPr>
              <a:solidFill>
                <a:srgbClr val="222222"/>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400"/>
              <a:buNone/>
            </a:pPr>
            <a:r>
              <a:rPr lang="en-US">
                <a:solidFill>
                  <a:srgbClr val="222222"/>
                </a:solidFill>
                <a:highlight>
                  <a:srgbClr val="FFFFFF"/>
                </a:highlight>
                <a:latin typeface="Roboto"/>
                <a:ea typeface="Roboto"/>
                <a:cs typeface="Roboto"/>
                <a:sym typeface="Roboto"/>
              </a:rPr>
              <a:t>The </a:t>
            </a:r>
            <a:r>
              <a:rPr b="1" lang="en-US">
                <a:solidFill>
                  <a:srgbClr val="222222"/>
                </a:solidFill>
                <a:highlight>
                  <a:srgbClr val="FFFFFF"/>
                </a:highlight>
                <a:latin typeface="Roboto"/>
                <a:ea typeface="Roboto"/>
                <a:cs typeface="Roboto"/>
                <a:sym typeface="Roboto"/>
              </a:rPr>
              <a:t>risk</a:t>
            </a:r>
            <a:r>
              <a:rPr lang="en-US">
                <a:solidFill>
                  <a:srgbClr val="222222"/>
                </a:solidFill>
                <a:highlight>
                  <a:srgbClr val="FFFFFF"/>
                </a:highlight>
                <a:latin typeface="Roboto"/>
                <a:ea typeface="Roboto"/>
                <a:cs typeface="Roboto"/>
                <a:sym typeface="Roboto"/>
              </a:rPr>
              <a:t> of taking yourself and your family into an unfamiliar storm of stress and uncertainty. The </a:t>
            </a:r>
            <a:r>
              <a:rPr b="1" lang="en-US">
                <a:solidFill>
                  <a:srgbClr val="222222"/>
                </a:solidFill>
                <a:highlight>
                  <a:srgbClr val="FFFFFF"/>
                </a:highlight>
                <a:latin typeface="Roboto"/>
                <a:ea typeface="Roboto"/>
                <a:cs typeface="Roboto"/>
                <a:sym typeface="Roboto"/>
              </a:rPr>
              <a:t>risk</a:t>
            </a:r>
            <a:r>
              <a:rPr lang="en-US">
                <a:solidFill>
                  <a:srgbClr val="222222"/>
                </a:solidFill>
                <a:highlight>
                  <a:srgbClr val="FFFFFF"/>
                </a:highlight>
                <a:latin typeface="Roboto"/>
                <a:ea typeface="Roboto"/>
                <a:cs typeface="Roboto"/>
                <a:sym typeface="Roboto"/>
              </a:rPr>
              <a:t> that you've miscalculated an opportunity, or your own internal resources as you plunge into a new venture</a:t>
            </a:r>
            <a:endParaRPr>
              <a:solidFill>
                <a:srgbClr val="222222"/>
              </a:solidFill>
              <a:highlight>
                <a:srgbClr val="FFFFFF"/>
              </a:highlight>
              <a:latin typeface="Roboto"/>
              <a:ea typeface="Roboto"/>
              <a:cs typeface="Roboto"/>
              <a:sym typeface="Roboto"/>
            </a:endParaRPr>
          </a:p>
          <a:p>
            <a:pPr indent="0" lvl="0" marL="0" rtl="0" algn="l">
              <a:lnSpc>
                <a:spcPct val="100000"/>
              </a:lnSpc>
              <a:spcBef>
                <a:spcPts val="0"/>
              </a:spcBef>
              <a:spcAft>
                <a:spcPts val="0"/>
              </a:spcAft>
              <a:buSzPts val="1400"/>
              <a:buNone/>
            </a:pPr>
            <a:r>
              <a:t/>
            </a:r>
            <a:endParaRPr>
              <a:solidFill>
                <a:srgbClr val="222222"/>
              </a:solidFill>
              <a:highlight>
                <a:srgbClr val="FFFFFF"/>
              </a:highlight>
              <a:latin typeface="Roboto"/>
              <a:ea typeface="Roboto"/>
              <a:cs typeface="Roboto"/>
              <a:sym typeface="Roboto"/>
            </a:endParaRPr>
          </a:p>
        </p:txBody>
      </p:sp>
      <p:sp>
        <p:nvSpPr>
          <p:cNvPr id="178" name="Google Shape;1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SLIDES_API44872211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4" name="Google Shape;224;SLIDES_API44872211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This is Slido interaction slide, please don't delete it.</a:t>
            </a:r>
            <a:br>
              <a:rPr lang="en-US"/>
            </a:br>
            <a:r>
              <a:rPr lang="en-US"/>
              <a:t>✅ Click on 'Present with Slido' and the poll will launch automatically when you get to this slide.</a:t>
            </a:r>
            <a:endParaRPr/>
          </a:p>
        </p:txBody>
      </p:sp>
      <p:sp>
        <p:nvSpPr>
          <p:cNvPr id="225" name="Google Shape;225;SLIDES_API44872211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98c08de4a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g98c08de4a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9a5bd2c18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9a5bd2c18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SLIDES_API25035018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0" name="Google Shape;270;SLIDES_API250350189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This is Slido interaction slide, please don't delete it.</a:t>
            </a:r>
            <a:br>
              <a:rPr lang="en-US"/>
            </a:br>
            <a:r>
              <a:rPr lang="en-US"/>
              <a:t>✅ Click on 'Present with Slido' and the poll will launch automatically when you get to this slide.</a:t>
            </a:r>
            <a:endParaRPr/>
          </a:p>
        </p:txBody>
      </p:sp>
      <p:sp>
        <p:nvSpPr>
          <p:cNvPr id="271" name="Google Shape;271;SLIDES_API250350189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97e6f30f41_0_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g97e6f30f41_0_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98128585be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g98128585be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97e6f30f41_0_3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g97e6f30f41_0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gi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2"/>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1" y="6334316"/>
            <a:ext cx="12192000" cy="66484"/>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2"/>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pic>
        <p:nvPicPr>
          <p:cNvPr id="27" name="Google Shape;27;p2"/>
          <p:cNvPicPr preferRelativeResize="0"/>
          <p:nvPr/>
        </p:nvPicPr>
        <p:blipFill rotWithShape="1">
          <a:blip r:embed="rId2">
            <a:alphaModFix/>
          </a:blip>
          <a:srcRect b="0" l="0" r="0" t="0"/>
          <a:stretch/>
        </p:blipFill>
        <p:spPr>
          <a:xfrm>
            <a:off x="407043" y="758952"/>
            <a:ext cx="914400" cy="1143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8" name="Shape 28"/>
        <p:cNvGrpSpPr/>
        <p:nvPr/>
      </p:nvGrpSpPr>
      <p:grpSpPr>
        <a:xfrm>
          <a:off x="0" y="0"/>
          <a:ext cx="0" cy="0"/>
          <a:chOff x="0" y="0"/>
          <a:chExt cx="0" cy="0"/>
        </a:xfrm>
      </p:grpSpPr>
      <p:sp>
        <p:nvSpPr>
          <p:cNvPr id="29" name="Google Shape;29;p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31" name="Google Shape;31;p3"/>
          <p:cNvSpPr txBox="1"/>
          <p:nvPr>
            <p:ph idx="2" type="body"/>
          </p:nvPr>
        </p:nvSpPr>
        <p:spPr>
          <a:xfrm>
            <a:off x="1097280" y="2582335"/>
            <a:ext cx="4937760" cy="3286760"/>
          </a:xfrm>
          <a:prstGeom prst="rect">
            <a:avLst/>
          </a:prstGeom>
          <a:noFill/>
          <a:ln>
            <a:noFill/>
          </a:ln>
        </p:spPr>
        <p:txBody>
          <a:bodyPr anchorCtr="0" anchor="t" bIns="45700" lIns="0" spcFirstLastPara="1" rIns="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2" name="Google Shape;32;p3"/>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33" name="Google Shape;33;p3"/>
          <p:cNvSpPr txBox="1"/>
          <p:nvPr>
            <p:ph idx="4" type="body"/>
          </p:nvPr>
        </p:nvSpPr>
        <p:spPr>
          <a:xfrm>
            <a:off x="6217920" y="2582334"/>
            <a:ext cx="4937760" cy="3286760"/>
          </a:xfrm>
          <a:prstGeom prst="rect">
            <a:avLst/>
          </a:prstGeom>
          <a:noFill/>
          <a:ln>
            <a:noFill/>
          </a:ln>
        </p:spPr>
        <p:txBody>
          <a:bodyPr anchorCtr="0" anchor="t" bIns="45700" lIns="0" spcFirstLastPara="1" rIns="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4" name="Google Shape;34;p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7" name="Google Shape;37;p3"/>
          <p:cNvPicPr preferRelativeResize="0"/>
          <p:nvPr/>
        </p:nvPicPr>
        <p:blipFill rotWithShape="1">
          <a:blip r:embed="rId2">
            <a:alphaModFix/>
          </a:blip>
          <a:srcRect b="0" l="0" r="0" t="0"/>
          <a:stretch/>
        </p:blipFill>
        <p:spPr>
          <a:xfrm>
            <a:off x="97762" y="301754"/>
            <a:ext cx="914400" cy="1143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8" name="Shape 38"/>
        <p:cNvGrpSpPr/>
        <p:nvPr/>
      </p:nvGrpSpPr>
      <p:grpSpPr>
        <a:xfrm>
          <a:off x="0" y="0"/>
          <a:ext cx="0" cy="0"/>
          <a:chOff x="0" y="0"/>
          <a:chExt cx="0" cy="0"/>
        </a:xfrm>
      </p:grpSpPr>
      <p:sp>
        <p:nvSpPr>
          <p:cNvPr id="39" name="Google Shape;39;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1" name="Google Shape;41;p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44" name="Shape 44"/>
        <p:cNvGrpSpPr/>
        <p:nvPr/>
      </p:nvGrpSpPr>
      <p:grpSpPr>
        <a:xfrm>
          <a:off x="0" y="0"/>
          <a:ext cx="0" cy="0"/>
          <a:chOff x="0" y="0"/>
          <a:chExt cx="0" cy="0"/>
        </a:xfrm>
      </p:grpSpPr>
      <p:sp>
        <p:nvSpPr>
          <p:cNvPr id="45" name="Google Shape;45;p5"/>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5"/>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5"/>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9" name="Google Shape;49;p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52" name="Google Shape;52;p5"/>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
          <p:cNvSpPr txBox="1"/>
          <p:nvPr>
            <p:ph idx="1" type="body"/>
          </p:nvPr>
        </p:nvSpPr>
        <p:spPr>
          <a:xfrm>
            <a:off x="1097280" y="1845734"/>
            <a:ext cx="4937760" cy="4023359"/>
          </a:xfrm>
          <a:prstGeom prst="rect">
            <a:avLst/>
          </a:prstGeom>
          <a:noFill/>
          <a:ln>
            <a:noFill/>
          </a:ln>
        </p:spPr>
        <p:txBody>
          <a:bodyPr anchorCtr="0" anchor="t" bIns="45700" lIns="0" spcFirstLastPara="1" rIns="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6" name="Google Shape;56;p6"/>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65" name="Shape 65"/>
        <p:cNvGrpSpPr/>
        <p:nvPr/>
      </p:nvGrpSpPr>
      <p:grpSpPr>
        <a:xfrm>
          <a:off x="0" y="0"/>
          <a:ext cx="0" cy="0"/>
          <a:chOff x="0" y="0"/>
          <a:chExt cx="0" cy="0"/>
        </a:xfrm>
      </p:grpSpPr>
      <p:sp>
        <p:nvSpPr>
          <p:cNvPr id="66" name="Google Shape;66;p8"/>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8"/>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1" name="Shape 71"/>
        <p:cNvGrpSpPr/>
        <p:nvPr/>
      </p:nvGrpSpPr>
      <p:grpSpPr>
        <a:xfrm>
          <a:off x="0" y="0"/>
          <a:ext cx="0" cy="0"/>
          <a:chOff x="0" y="0"/>
          <a:chExt cx="0" cy="0"/>
        </a:xfrm>
      </p:grpSpPr>
      <p:sp>
        <p:nvSpPr>
          <p:cNvPr id="72" name="Google Shape;72;p9"/>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9"/>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9"/>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9"/>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6" name="Google Shape;76;p9"/>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7" name="Google Shape;77;p9"/>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9"/>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0" name="Shape 80"/>
        <p:cNvGrpSpPr/>
        <p:nvPr/>
      </p:nvGrpSpPr>
      <p:grpSpPr>
        <a:xfrm>
          <a:off x="0" y="0"/>
          <a:ext cx="0" cy="0"/>
          <a:chOff x="0" y="0"/>
          <a:chExt cx="0" cy="0"/>
        </a:xfrm>
      </p:grpSpPr>
      <p:sp>
        <p:nvSpPr>
          <p:cNvPr id="81" name="Google Shape;81;p10"/>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0"/>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0"/>
          <p:cNvSpPr txBox="1"/>
          <p:nvPr>
            <p:ph type="title"/>
          </p:nvPr>
        </p:nvSpPr>
        <p:spPr>
          <a:xfrm>
            <a:off x="1097280" y="5074920"/>
            <a:ext cx="10113645"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0"/>
          <p:cNvSpPr/>
          <p:nvPr>
            <p:ph idx="2" type="pic"/>
          </p:nvPr>
        </p:nvSpPr>
        <p:spPr>
          <a:xfrm>
            <a:off x="15" y="0"/>
            <a:ext cx="12191985" cy="4915076"/>
          </a:xfrm>
          <a:prstGeom prst="rect">
            <a:avLst/>
          </a:prstGeom>
          <a:solidFill>
            <a:srgbClr val="BECAD4"/>
          </a:solidFill>
          <a:ln>
            <a:noFill/>
          </a:ln>
        </p:spPr>
        <p:txBody>
          <a:bodyPr anchorCtr="0" anchor="t" bIns="45700" lIns="457200" spcFirstLastPara="1" rIns="0" wrap="square" tIns="457200">
            <a:noAutofit/>
          </a:bodyPr>
          <a:lstStyle>
            <a:lvl1pPr lvl="0" marR="0" rtl="0" algn="l">
              <a:lnSpc>
                <a:spcPct val="90000"/>
              </a:lnSpc>
              <a:spcBef>
                <a:spcPts val="1200"/>
              </a:spcBef>
              <a:spcAft>
                <a:spcPts val="0"/>
              </a:spcAft>
              <a:buClr>
                <a:schemeClr val="accent1"/>
              </a:buClr>
              <a:buSzPts val="3200"/>
              <a:buFont typeface="Calibri"/>
              <a:buNone/>
              <a:defRPr b="0" i="0" sz="3200" u="none" cap="none" strike="noStrike">
                <a:solidFill>
                  <a:srgbClr val="3F3F3F"/>
                </a:solidFill>
                <a:latin typeface="Calibri"/>
                <a:ea typeface="Calibri"/>
                <a:cs typeface="Calibri"/>
                <a:sym typeface="Calibri"/>
              </a:defRPr>
            </a:lvl1pPr>
            <a:lvl2pPr lvl="1" marR="0" rtl="0" algn="l">
              <a:lnSpc>
                <a:spcPct val="90000"/>
              </a:lnSpc>
              <a:spcBef>
                <a:spcPts val="200"/>
              </a:spcBef>
              <a:spcAft>
                <a:spcPts val="0"/>
              </a:spcAft>
              <a:buClr>
                <a:schemeClr val="accent1"/>
              </a:buClr>
              <a:buSzPts val="2800"/>
              <a:buFont typeface="Calibri"/>
              <a:buNone/>
              <a:defRPr b="0" i="0" sz="2800" u="none" cap="none" strike="noStrike">
                <a:solidFill>
                  <a:srgbClr val="3F3F3F"/>
                </a:solidFill>
                <a:latin typeface="Calibri"/>
                <a:ea typeface="Calibri"/>
                <a:cs typeface="Calibri"/>
                <a:sym typeface="Calibri"/>
              </a:defRPr>
            </a:lvl2pPr>
            <a:lvl3pPr lvl="2" marR="0" rtl="0" algn="l">
              <a:lnSpc>
                <a:spcPct val="90000"/>
              </a:lnSpc>
              <a:spcBef>
                <a:spcPts val="400"/>
              </a:spcBef>
              <a:spcAft>
                <a:spcPts val="0"/>
              </a:spcAft>
              <a:buClr>
                <a:schemeClr val="accent1"/>
              </a:buClr>
              <a:buSzPts val="2400"/>
              <a:buFont typeface="Calibri"/>
              <a:buNone/>
              <a:defRPr b="0" i="0" sz="2400" u="none" cap="none" strike="noStrike">
                <a:solidFill>
                  <a:srgbClr val="3F3F3F"/>
                </a:solidFill>
                <a:latin typeface="Calibri"/>
                <a:ea typeface="Calibri"/>
                <a:cs typeface="Calibri"/>
                <a:sym typeface="Calibri"/>
              </a:defRPr>
            </a:lvl3pPr>
            <a:lvl4pPr lvl="3" marR="0" rtl="0" algn="l">
              <a:lnSpc>
                <a:spcPct val="90000"/>
              </a:lnSpc>
              <a:spcBef>
                <a:spcPts val="400"/>
              </a:spcBef>
              <a:spcAft>
                <a:spcPts val="0"/>
              </a:spcAft>
              <a:buClr>
                <a:schemeClr val="accent1"/>
              </a:buClr>
              <a:buSzPts val="2000"/>
              <a:buFont typeface="Calibri"/>
              <a:buNone/>
              <a:defRPr b="0" i="0" sz="2000" u="none" cap="none" strike="noStrike">
                <a:solidFill>
                  <a:srgbClr val="3F3F3F"/>
                </a:solidFill>
                <a:latin typeface="Calibri"/>
                <a:ea typeface="Calibri"/>
                <a:cs typeface="Calibri"/>
                <a:sym typeface="Calibri"/>
              </a:defRPr>
            </a:lvl4pPr>
            <a:lvl5pPr lvl="4" marR="0" rtl="0" algn="l">
              <a:lnSpc>
                <a:spcPct val="90000"/>
              </a:lnSpc>
              <a:spcBef>
                <a:spcPts val="400"/>
              </a:spcBef>
              <a:spcAft>
                <a:spcPts val="0"/>
              </a:spcAft>
              <a:buClr>
                <a:schemeClr val="accent1"/>
              </a:buClr>
              <a:buSzPts val="2000"/>
              <a:buFont typeface="Calibri"/>
              <a:buNone/>
              <a:defRPr b="0" i="0" sz="2000" u="none" cap="none" strike="noStrike">
                <a:solidFill>
                  <a:srgbClr val="3F3F3F"/>
                </a:solidFill>
                <a:latin typeface="Calibri"/>
                <a:ea typeface="Calibri"/>
                <a:cs typeface="Calibri"/>
                <a:sym typeface="Calibri"/>
              </a:defRPr>
            </a:lvl5pPr>
            <a:lvl6pPr lvl="5" marR="0" rtl="0" algn="l">
              <a:lnSpc>
                <a:spcPct val="90000"/>
              </a:lnSpc>
              <a:spcBef>
                <a:spcPts val="400"/>
              </a:spcBef>
              <a:spcAft>
                <a:spcPts val="0"/>
              </a:spcAft>
              <a:buClr>
                <a:schemeClr val="accent1"/>
              </a:buClr>
              <a:buSzPts val="2000"/>
              <a:buFont typeface="Calibri"/>
              <a:buNone/>
              <a:defRPr b="0" i="0" sz="2000" u="none" cap="none" strike="noStrike">
                <a:solidFill>
                  <a:srgbClr val="3F3F3F"/>
                </a:solidFill>
                <a:latin typeface="Calibri"/>
                <a:ea typeface="Calibri"/>
                <a:cs typeface="Calibri"/>
                <a:sym typeface="Calibri"/>
              </a:defRPr>
            </a:lvl6pPr>
            <a:lvl7pPr lvl="6" marR="0" rtl="0" algn="l">
              <a:lnSpc>
                <a:spcPct val="90000"/>
              </a:lnSpc>
              <a:spcBef>
                <a:spcPts val="400"/>
              </a:spcBef>
              <a:spcAft>
                <a:spcPts val="0"/>
              </a:spcAft>
              <a:buClr>
                <a:schemeClr val="accent1"/>
              </a:buClr>
              <a:buSzPts val="2000"/>
              <a:buFont typeface="Calibri"/>
              <a:buNone/>
              <a:defRPr b="0" i="0" sz="2000" u="none" cap="none" strike="noStrike">
                <a:solidFill>
                  <a:srgbClr val="3F3F3F"/>
                </a:solidFill>
                <a:latin typeface="Calibri"/>
                <a:ea typeface="Calibri"/>
                <a:cs typeface="Calibri"/>
                <a:sym typeface="Calibri"/>
              </a:defRPr>
            </a:lvl7pPr>
            <a:lvl8pPr lvl="7" marR="0" rtl="0" algn="l">
              <a:lnSpc>
                <a:spcPct val="90000"/>
              </a:lnSpc>
              <a:spcBef>
                <a:spcPts val="400"/>
              </a:spcBef>
              <a:spcAft>
                <a:spcPts val="0"/>
              </a:spcAft>
              <a:buClr>
                <a:schemeClr val="accent1"/>
              </a:buClr>
              <a:buSzPts val="2000"/>
              <a:buFont typeface="Calibri"/>
              <a:buNone/>
              <a:defRPr b="0" i="0" sz="2000" u="none" cap="none" strike="noStrike">
                <a:solidFill>
                  <a:srgbClr val="3F3F3F"/>
                </a:solidFill>
                <a:latin typeface="Calibri"/>
                <a:ea typeface="Calibri"/>
                <a:cs typeface="Calibri"/>
                <a:sym typeface="Calibri"/>
              </a:defRPr>
            </a:lvl8pPr>
            <a:lvl9pPr lvl="8" marR="0" rtl="0" algn="l">
              <a:lnSpc>
                <a:spcPct val="90000"/>
              </a:lnSpc>
              <a:spcBef>
                <a:spcPts val="400"/>
              </a:spcBef>
              <a:spcAft>
                <a:spcPts val="400"/>
              </a:spcAft>
              <a:buClr>
                <a:schemeClr val="accent1"/>
              </a:buClr>
              <a:buSzPts val="2000"/>
              <a:buFont typeface="Calibri"/>
              <a:buNone/>
              <a:defRPr b="0" i="0" sz="2000" u="none" cap="none" strike="noStrike">
                <a:solidFill>
                  <a:srgbClr val="3F3F3F"/>
                </a:solidFill>
                <a:latin typeface="Calibri"/>
                <a:ea typeface="Calibri"/>
                <a:cs typeface="Calibri"/>
                <a:sym typeface="Calibri"/>
              </a:defRPr>
            </a:lvl9pPr>
          </a:lstStyle>
          <a:p/>
        </p:txBody>
      </p:sp>
      <p:sp>
        <p:nvSpPr>
          <p:cNvPr id="85" name="Google Shape;85;p10"/>
          <p:cNvSpPr txBox="1"/>
          <p:nvPr>
            <p:ph idx="1" type="body"/>
          </p:nvPr>
        </p:nvSpPr>
        <p:spPr>
          <a:xfrm>
            <a:off x="1097280" y="5907024"/>
            <a:ext cx="10113264" cy="594360"/>
          </a:xfrm>
          <a:prstGeom prst="rect">
            <a:avLst/>
          </a:prstGeom>
          <a:noFill/>
          <a:ln>
            <a:noFill/>
          </a:ln>
        </p:spPr>
        <p:txBody>
          <a:bodyPr anchorCtr="0" anchor="t" bIns="0" lIns="91425" spcFirstLastPara="1" rIns="91425" wrap="square" tIns="0">
            <a:no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6" name="Google Shape;86;p1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9" name="Shape 89"/>
        <p:cNvGrpSpPr/>
        <p:nvPr/>
      </p:nvGrpSpPr>
      <p:grpSpPr>
        <a:xfrm>
          <a:off x="0" y="0"/>
          <a:ext cx="0" cy="0"/>
          <a:chOff x="0" y="0"/>
          <a:chExt cx="0" cy="0"/>
        </a:xfrm>
      </p:grpSpPr>
      <p:sp>
        <p:nvSpPr>
          <p:cNvPr id="90" name="Google Shape;90;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1"/>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2" name="Google Shape;92;p1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5" name="Shape 95"/>
        <p:cNvGrpSpPr/>
        <p:nvPr/>
      </p:nvGrpSpPr>
      <p:grpSpPr>
        <a:xfrm>
          <a:off x="0" y="0"/>
          <a:ext cx="0" cy="0"/>
          <a:chOff x="0" y="0"/>
          <a:chExt cx="0" cy="0"/>
        </a:xfrm>
      </p:grpSpPr>
      <p:sp>
        <p:nvSpPr>
          <p:cNvPr id="96" name="Google Shape;96;p1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2"/>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2"/>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0" name="Google Shape;100;p1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 name="Google Shape;16;p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1"/>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www.sli.do/features-google-slides?payload=eyJwcmVzZW50YXRpb25JZCI6IjFpQ3JPVlZUeU93Wm00dG9TS3dQcW50ZWxfYXZZTWZ2eTZUeGJDQmZpRkk4Iiwic2xpZGVJZCI6IlNMSURFU19BUEkxNDY1MTk4MTc2XzAifQ%3D%3D"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11.png"/><Relationship Id="rId5"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www.sli.do/features-google-slides?payload=eyJwcmVzZW50YXRpb25JZCI6IjFpQ3JPVlZUeU93Wm00dG9TS3dQcW50ZWxfYXZZTWZ2eTZUeGJDQmZpRkk4Iiwic2xpZGVJZCI6IlNMSURFU19BUEk0NDg3MjIxMTNfMCJ9" TargetMode="Externa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www.sli.do/features-google-slides?payload=eyJwcmVzZW50YXRpb25JZCI6IjFpQ3JPVlZUeU93Wm00dG9TS3dQcW50ZWxfYXZZTWZ2eTZUeGJDQmZpRkk4Iiwic2xpZGVJZCI6IlNMSURFU19BUEkyNTAzNTAxODlfMCJ9" TargetMode="Externa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30.png"/><Relationship Id="rId5"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23.png"/><Relationship Id="rId5" Type="http://schemas.openxmlformats.org/officeDocument/2006/relationships/hyperlink" Target="https://www.investopedia.com/terms/c/capitalstructure.asp" TargetMode="External"/><Relationship Id="rId6"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3.jp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s://drive.google.com/drive/folders/1KvZYi4l4PUAhxwLG8SduF5gUmitY-U-w?usp=sharing"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drive.google.com/drive/folders/1KvZYi4l4PUAhxwLG8SduF5gUmitY-U-w?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13"/>
          <p:cNvPicPr preferRelativeResize="0"/>
          <p:nvPr/>
        </p:nvPicPr>
        <p:blipFill>
          <a:blip r:embed="rId3">
            <a:alphaModFix/>
          </a:blip>
          <a:stretch>
            <a:fillRect/>
          </a:stretch>
        </p:blipFill>
        <p:spPr>
          <a:xfrm>
            <a:off x="2965775" y="1758075"/>
            <a:ext cx="9008201" cy="4575325"/>
          </a:xfrm>
          <a:prstGeom prst="rect">
            <a:avLst/>
          </a:prstGeom>
          <a:noFill/>
          <a:ln>
            <a:noFill/>
          </a:ln>
        </p:spPr>
      </p:pic>
      <p:sp>
        <p:nvSpPr>
          <p:cNvPr id="108" name="Google Shape;108;p13"/>
          <p:cNvSpPr txBox="1"/>
          <p:nvPr>
            <p:ph type="ctrTitle"/>
          </p:nvPr>
        </p:nvSpPr>
        <p:spPr>
          <a:xfrm>
            <a:off x="1229710" y="798786"/>
            <a:ext cx="9926100" cy="35262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262626"/>
              </a:buClr>
              <a:buSzPts val="8000"/>
              <a:buFont typeface="Calibri"/>
              <a:buNone/>
            </a:pPr>
            <a:r>
              <a:rPr lang="en-US"/>
              <a:t>Entrepreneurship Finance Basics </a:t>
            </a:r>
            <a:endParaRPr/>
          </a:p>
        </p:txBody>
      </p:sp>
      <p:sp>
        <p:nvSpPr>
          <p:cNvPr id="109" name="Google Shape;109;p13"/>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2400"/>
              <a:buNone/>
            </a:pPr>
            <a:r>
              <a:rPr lang="en-US"/>
              <a:t>College Leap | NBPC Educational Workshop </a:t>
            </a:r>
            <a:endParaRPr/>
          </a:p>
          <a:p>
            <a:pPr indent="0" lvl="0" marL="0" rtl="0" algn="l">
              <a:lnSpc>
                <a:spcPct val="90000"/>
              </a:lnSpc>
              <a:spcBef>
                <a:spcPts val="1400"/>
              </a:spcBef>
              <a:spcAft>
                <a:spcPts val="0"/>
              </a:spcAft>
              <a:buSzPts val="2400"/>
              <a:buNone/>
            </a:pPr>
            <a:r>
              <a:rPr lang="en-US"/>
              <a:t>Jose Wang-Nava, CPA, MBA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4"/>
          <p:cNvSpPr txBox="1"/>
          <p:nvPr>
            <p:ph idx="4294967295" type="title"/>
          </p:nvPr>
        </p:nvSpPr>
        <p:spPr>
          <a:xfrm>
            <a:off x="523991" y="67608"/>
            <a:ext cx="9730800" cy="1325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3600"/>
              <a:buFont typeface="Source Sans Pro"/>
              <a:buNone/>
            </a:pPr>
            <a:r>
              <a:rPr b="1" lang="en-US" sz="4200">
                <a:solidFill>
                  <a:srgbClr val="FFFFFF"/>
                </a:solidFill>
                <a:latin typeface="Caveat"/>
                <a:ea typeface="Caveat"/>
                <a:cs typeface="Caveat"/>
                <a:sym typeface="Caveat"/>
              </a:rPr>
              <a:t>Engage and Interact</a:t>
            </a:r>
            <a:endParaRPr b="1" sz="2400">
              <a:solidFill>
                <a:srgbClr val="FFFFFF"/>
              </a:solidFill>
              <a:latin typeface="Caveat"/>
              <a:ea typeface="Caveat"/>
              <a:cs typeface="Caveat"/>
              <a:sym typeface="Caveat"/>
            </a:endParaRPr>
          </a:p>
          <a:p>
            <a:pPr indent="0" lvl="0" marL="0" rtl="0" algn="ctr">
              <a:lnSpc>
                <a:spcPct val="90000"/>
              </a:lnSpc>
              <a:spcBef>
                <a:spcPts val="0"/>
              </a:spcBef>
              <a:spcAft>
                <a:spcPts val="0"/>
              </a:spcAft>
              <a:buClr>
                <a:schemeClr val="lt1"/>
              </a:buClr>
              <a:buSzPts val="3000"/>
              <a:buFont typeface="Exo 2"/>
              <a:buNone/>
            </a:pPr>
            <a:r>
              <a:t/>
            </a:r>
            <a:endParaRPr b="1">
              <a:solidFill>
                <a:schemeClr val="lt1"/>
              </a:solidFill>
              <a:latin typeface="Exo 2"/>
              <a:ea typeface="Exo 2"/>
              <a:cs typeface="Exo 2"/>
              <a:sym typeface="Exo 2"/>
            </a:endParaRPr>
          </a:p>
        </p:txBody>
      </p:sp>
      <p:sp>
        <p:nvSpPr>
          <p:cNvPr id="115" name="Google Shape;115;p14"/>
          <p:cNvSpPr txBox="1"/>
          <p:nvPr>
            <p:ph idx="12" type="sldNum"/>
          </p:nvPr>
        </p:nvSpPr>
        <p:spPr>
          <a:xfrm>
            <a:off x="8798614" y="8593667"/>
            <a:ext cx="2844900" cy="486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50"/>
              <a:buFont typeface="Arial"/>
              <a:buNone/>
            </a:pPr>
            <a:fld id="{00000000-1234-1234-1234-123412341234}" type="slidenum">
              <a:rPr lang="en-US"/>
              <a:t>‹#›</a:t>
            </a:fld>
            <a:endParaRPr/>
          </a:p>
        </p:txBody>
      </p:sp>
      <p:pic>
        <p:nvPicPr>
          <p:cNvPr id="116" name="Google Shape;116;p14"/>
          <p:cNvPicPr preferRelativeResize="0"/>
          <p:nvPr/>
        </p:nvPicPr>
        <p:blipFill rotWithShape="1">
          <a:blip r:embed="rId3">
            <a:alphaModFix/>
          </a:blip>
          <a:srcRect b="0" l="0" r="11111" t="0"/>
          <a:stretch/>
        </p:blipFill>
        <p:spPr>
          <a:xfrm>
            <a:off x="0" y="0"/>
            <a:ext cx="12191996" cy="6858001"/>
          </a:xfrm>
          <a:prstGeom prst="rect">
            <a:avLst/>
          </a:prstGeom>
          <a:noFill/>
          <a:ln>
            <a:noFill/>
          </a:ln>
        </p:spPr>
      </p:pic>
      <p:sp>
        <p:nvSpPr>
          <p:cNvPr id="117" name="Google Shape;117;p14"/>
          <p:cNvSpPr/>
          <p:nvPr/>
        </p:nvSpPr>
        <p:spPr>
          <a:xfrm>
            <a:off x="528300" y="5591975"/>
            <a:ext cx="7433700" cy="918600"/>
          </a:xfrm>
          <a:prstGeom prst="rect">
            <a:avLst/>
          </a:prstGeom>
          <a:solidFill>
            <a:srgbClr val="4A7DBA">
              <a:alpha val="797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txBox="1"/>
          <p:nvPr/>
        </p:nvSpPr>
        <p:spPr>
          <a:xfrm>
            <a:off x="633900" y="5666775"/>
            <a:ext cx="7196400" cy="74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700">
                <a:solidFill>
                  <a:srgbClr val="FFFFFF"/>
                </a:solidFill>
                <a:latin typeface="Montserrat"/>
                <a:ea typeface="Montserrat"/>
                <a:cs typeface="Montserrat"/>
                <a:sym typeface="Montserrat"/>
              </a:rPr>
              <a:t>ENGAGE &amp; INTERACT</a:t>
            </a:r>
            <a:endParaRPr b="1" sz="3700">
              <a:solidFill>
                <a:srgbClr val="FFFFFF"/>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pic>
        <p:nvPicPr>
          <p:cNvPr descr="logo-id" id="124" name="Google Shape;124;p15">
            <a:hlinkClick r:id="rId3"/>
          </p:cNvPr>
          <p:cNvPicPr preferRelativeResize="0"/>
          <p:nvPr/>
        </p:nvPicPr>
        <p:blipFill>
          <a:blip r:embed="rId4">
            <a:alphaModFix/>
          </a:blip>
          <a:stretch>
            <a:fillRect/>
          </a:stretch>
        </p:blipFill>
        <p:spPr>
          <a:xfrm>
            <a:off x="5512999" y="602187"/>
            <a:ext cx="1166001" cy="510125"/>
          </a:xfrm>
          <a:prstGeom prst="rect">
            <a:avLst/>
          </a:prstGeom>
          <a:noFill/>
          <a:ln>
            <a:noFill/>
          </a:ln>
        </p:spPr>
      </p:pic>
      <p:sp>
        <p:nvSpPr>
          <p:cNvPr descr="footer-id" id="125" name="Google Shape;125;p15"/>
          <p:cNvSpPr txBox="1"/>
          <p:nvPr/>
        </p:nvSpPr>
        <p:spPr>
          <a:xfrm>
            <a:off x="0" y="5143500"/>
            <a:ext cx="12192000" cy="17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39AC37"/>
                </a:solidFill>
                <a:latin typeface="Calibri"/>
                <a:ea typeface="Calibri"/>
                <a:cs typeface="Calibri"/>
                <a:sym typeface="Calibri"/>
              </a:rPr>
              <a:t>ⓘ</a:t>
            </a:r>
            <a:r>
              <a:rPr lang="en-US">
                <a:latin typeface="Calibri"/>
                <a:ea typeface="Calibri"/>
                <a:cs typeface="Calibri"/>
                <a:sym typeface="Calibri"/>
              </a:rPr>
              <a:t> Start presenting to display the poll results on this slide.</a:t>
            </a:r>
            <a:endParaRPr>
              <a:latin typeface="Calibri"/>
              <a:ea typeface="Calibri"/>
              <a:cs typeface="Calibri"/>
              <a:sym typeface="Calibri"/>
            </a:endParaRPr>
          </a:p>
        </p:txBody>
      </p:sp>
      <p:sp>
        <p:nvSpPr>
          <p:cNvPr descr="title-id" id="126" name="Google Shape;126;p15"/>
          <p:cNvSpPr txBox="1"/>
          <p:nvPr/>
        </p:nvSpPr>
        <p:spPr>
          <a:xfrm>
            <a:off x="0" y="1714500"/>
            <a:ext cx="12192000" cy="34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solidFill>
                  <a:srgbClr val="424242"/>
                </a:solidFill>
                <a:latin typeface="Lato"/>
                <a:ea typeface="Lato"/>
                <a:cs typeface="Lato"/>
                <a:sym typeface="Lato"/>
              </a:rPr>
              <a:t>Where are you joining us from (what city)?</a:t>
            </a:r>
            <a:endParaRPr sz="3600">
              <a:solidFill>
                <a:srgbClr val="424242"/>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6"/>
          <p:cNvPicPr preferRelativeResize="0"/>
          <p:nvPr/>
        </p:nvPicPr>
        <p:blipFill>
          <a:blip r:embed="rId3">
            <a:alphaModFix amt="9000"/>
          </a:blip>
          <a:stretch>
            <a:fillRect/>
          </a:stretch>
        </p:blipFill>
        <p:spPr>
          <a:xfrm>
            <a:off x="792450" y="1846050"/>
            <a:ext cx="6597050" cy="4292850"/>
          </a:xfrm>
          <a:prstGeom prst="rect">
            <a:avLst/>
          </a:prstGeom>
          <a:noFill/>
          <a:ln>
            <a:noFill/>
          </a:ln>
          <a:effectLst>
            <a:outerShdw blurRad="57150" rotWithShape="0" algn="bl" dir="5400000" dist="19050">
              <a:srgbClr val="000000"/>
            </a:outerShdw>
          </a:effectLst>
        </p:spPr>
      </p:pic>
      <p:sp>
        <p:nvSpPr>
          <p:cNvPr id="132" name="Google Shape;132;p16"/>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Calibri"/>
              <a:buNone/>
            </a:pPr>
            <a:r>
              <a:rPr lang="en-US"/>
              <a:t>Contents &amp; Assumptions</a:t>
            </a:r>
            <a:endParaRPr b="1"/>
          </a:p>
        </p:txBody>
      </p:sp>
      <p:sp>
        <p:nvSpPr>
          <p:cNvPr id="133" name="Google Shape;133;p16"/>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2000"/>
              <a:buNone/>
            </a:pPr>
            <a:r>
              <a:rPr b="1" lang="en-US" sz="2400"/>
              <a:t>Topics Covered</a:t>
            </a:r>
            <a:endParaRPr b="1" sz="2400"/>
          </a:p>
        </p:txBody>
      </p:sp>
      <p:sp>
        <p:nvSpPr>
          <p:cNvPr id="134" name="Google Shape;134;p16"/>
          <p:cNvSpPr txBox="1"/>
          <p:nvPr>
            <p:ph idx="2" type="body"/>
          </p:nvPr>
        </p:nvSpPr>
        <p:spPr>
          <a:xfrm>
            <a:off x="1097280" y="2425166"/>
            <a:ext cx="5875020" cy="1546759"/>
          </a:xfrm>
          <a:prstGeom prst="rect">
            <a:avLst/>
          </a:prstGeom>
          <a:noFill/>
          <a:ln>
            <a:noFill/>
          </a:ln>
        </p:spPr>
        <p:txBody>
          <a:bodyPr anchorCtr="0" anchor="t" bIns="45700" lIns="0" spcFirstLastPara="1" rIns="0" wrap="square" tIns="45700">
            <a:noAutofit/>
          </a:bodyPr>
          <a:lstStyle/>
          <a:p>
            <a:pPr indent="-457200" lvl="0" marL="457200" rtl="0" algn="l">
              <a:lnSpc>
                <a:spcPct val="115000"/>
              </a:lnSpc>
              <a:spcBef>
                <a:spcPts val="0"/>
              </a:spcBef>
              <a:spcAft>
                <a:spcPts val="0"/>
              </a:spcAft>
              <a:buClr>
                <a:schemeClr val="dk1"/>
              </a:buClr>
              <a:buSzPts val="1850"/>
              <a:buAutoNum type="alphaUcPeriod"/>
            </a:pPr>
            <a:r>
              <a:rPr lang="en-US" sz="1800">
                <a:solidFill>
                  <a:schemeClr val="dk1"/>
                </a:solidFill>
              </a:rPr>
              <a:t>The Right Brain “meets” the Left Brain </a:t>
            </a:r>
            <a:endParaRPr/>
          </a:p>
          <a:p>
            <a:pPr indent="0" lvl="0" marL="457200" rtl="0" algn="l">
              <a:lnSpc>
                <a:spcPct val="115000"/>
              </a:lnSpc>
              <a:spcBef>
                <a:spcPts val="0"/>
              </a:spcBef>
              <a:spcAft>
                <a:spcPts val="0"/>
              </a:spcAft>
              <a:buNone/>
            </a:pPr>
            <a:r>
              <a:rPr lang="en-US" sz="1800">
                <a:solidFill>
                  <a:schemeClr val="dk1"/>
                </a:solidFill>
              </a:rPr>
              <a:t>A1. </a:t>
            </a:r>
            <a:r>
              <a:rPr lang="en-US" sz="1800">
                <a:solidFill>
                  <a:schemeClr val="dk1"/>
                </a:solidFill>
              </a:rPr>
              <a:t>4 Types of Entrepreneurship Ventures</a:t>
            </a:r>
            <a:endParaRPr/>
          </a:p>
          <a:p>
            <a:pPr indent="-457200" lvl="0" marL="457200" rtl="0" algn="l">
              <a:lnSpc>
                <a:spcPct val="115000"/>
              </a:lnSpc>
              <a:spcBef>
                <a:spcPts val="0"/>
              </a:spcBef>
              <a:spcAft>
                <a:spcPts val="0"/>
              </a:spcAft>
              <a:buClr>
                <a:schemeClr val="dk1"/>
              </a:buClr>
              <a:buSzPts val="1850"/>
              <a:buAutoNum type="alphaUcPeriod"/>
            </a:pPr>
            <a:r>
              <a:rPr lang="en-US" sz="1800">
                <a:solidFill>
                  <a:schemeClr val="dk1"/>
                </a:solidFill>
              </a:rPr>
              <a:t>Life-Cycle Stages of Business / Entrepreneurial Ventures</a:t>
            </a:r>
            <a:endParaRPr/>
          </a:p>
          <a:p>
            <a:pPr indent="-457200" lvl="0" marL="457200" rtl="0" algn="l">
              <a:lnSpc>
                <a:spcPct val="115000"/>
              </a:lnSpc>
              <a:spcBef>
                <a:spcPts val="0"/>
              </a:spcBef>
              <a:spcAft>
                <a:spcPts val="0"/>
              </a:spcAft>
              <a:buClr>
                <a:schemeClr val="dk1"/>
              </a:buClr>
              <a:buSzPts val="1850"/>
              <a:buAutoNum type="alphaUcPeriod"/>
            </a:pPr>
            <a:r>
              <a:rPr lang="en-US" sz="1800">
                <a:solidFill>
                  <a:schemeClr val="dk1"/>
                </a:solidFill>
              </a:rPr>
              <a:t>Evaluating Business/Entrepreneurial Ventures</a:t>
            </a:r>
            <a:endParaRPr/>
          </a:p>
          <a:p>
            <a:pPr indent="0" lvl="0" marL="0" rtl="0" algn="l">
              <a:lnSpc>
                <a:spcPct val="115000"/>
              </a:lnSpc>
              <a:spcBef>
                <a:spcPts val="0"/>
              </a:spcBef>
              <a:spcAft>
                <a:spcPts val="0"/>
              </a:spcAft>
              <a:buClr>
                <a:schemeClr val="dk1"/>
              </a:buClr>
              <a:buSzPts val="1850"/>
              <a:buNone/>
            </a:pPr>
            <a:r>
              <a:t/>
            </a:r>
            <a:endParaRPr sz="1850">
              <a:solidFill>
                <a:schemeClr val="dk1"/>
              </a:solidFill>
            </a:endParaRPr>
          </a:p>
          <a:p>
            <a:pPr indent="-199390" lvl="0" marL="316865" rtl="0" algn="l">
              <a:lnSpc>
                <a:spcPct val="115000"/>
              </a:lnSpc>
              <a:spcBef>
                <a:spcPts val="0"/>
              </a:spcBef>
              <a:spcAft>
                <a:spcPts val="0"/>
              </a:spcAft>
              <a:buClr>
                <a:schemeClr val="dk1"/>
              </a:buClr>
              <a:buSzPts val="1850"/>
              <a:buFont typeface="Noto Sans Symbols"/>
              <a:buNone/>
            </a:pPr>
            <a:r>
              <a:t/>
            </a:r>
            <a:endParaRPr sz="1850">
              <a:solidFill>
                <a:schemeClr val="dk1"/>
              </a:solidFill>
            </a:endParaRPr>
          </a:p>
          <a:p>
            <a:pPr indent="-199390" lvl="0" marL="316865" rtl="0" algn="l">
              <a:lnSpc>
                <a:spcPct val="115000"/>
              </a:lnSpc>
              <a:spcBef>
                <a:spcPts val="0"/>
              </a:spcBef>
              <a:spcAft>
                <a:spcPts val="0"/>
              </a:spcAft>
              <a:buClr>
                <a:schemeClr val="dk1"/>
              </a:buClr>
              <a:buSzPts val="1850"/>
              <a:buFont typeface="Noto Sans Symbols"/>
              <a:buNone/>
            </a:pPr>
            <a:r>
              <a:t/>
            </a:r>
            <a:endParaRPr sz="1850">
              <a:solidFill>
                <a:schemeClr val="dk1"/>
              </a:solidFill>
            </a:endParaRPr>
          </a:p>
          <a:p>
            <a:pPr indent="-199390" lvl="0" marL="316865" rtl="0" algn="l">
              <a:lnSpc>
                <a:spcPct val="115000"/>
              </a:lnSpc>
              <a:spcBef>
                <a:spcPts val="0"/>
              </a:spcBef>
              <a:spcAft>
                <a:spcPts val="0"/>
              </a:spcAft>
              <a:buClr>
                <a:schemeClr val="dk1"/>
              </a:buClr>
              <a:buSzPts val="1850"/>
              <a:buFont typeface="Noto Sans Symbols"/>
              <a:buNone/>
            </a:pPr>
            <a:r>
              <a:t/>
            </a:r>
            <a:endParaRPr sz="1850">
              <a:solidFill>
                <a:schemeClr val="dk1"/>
              </a:solidFill>
            </a:endParaRPr>
          </a:p>
          <a:p>
            <a:pPr indent="-199390" lvl="0" marL="316865" rtl="0" algn="l">
              <a:lnSpc>
                <a:spcPct val="115000"/>
              </a:lnSpc>
              <a:spcBef>
                <a:spcPts val="0"/>
              </a:spcBef>
              <a:spcAft>
                <a:spcPts val="0"/>
              </a:spcAft>
              <a:buClr>
                <a:schemeClr val="dk1"/>
              </a:buClr>
              <a:buSzPts val="1850"/>
              <a:buFont typeface="Noto Sans Symbols"/>
              <a:buNone/>
            </a:pPr>
            <a:r>
              <a:t/>
            </a:r>
            <a:endParaRPr sz="1850">
              <a:solidFill>
                <a:schemeClr val="dk1"/>
              </a:solidFill>
            </a:endParaRPr>
          </a:p>
          <a:p>
            <a:pPr indent="-199390" lvl="0" marL="316865" rtl="0" algn="l">
              <a:lnSpc>
                <a:spcPct val="115000"/>
              </a:lnSpc>
              <a:spcBef>
                <a:spcPts val="0"/>
              </a:spcBef>
              <a:spcAft>
                <a:spcPts val="0"/>
              </a:spcAft>
              <a:buClr>
                <a:schemeClr val="dk1"/>
              </a:buClr>
              <a:buSzPts val="1850"/>
              <a:buFont typeface="Noto Sans Symbols"/>
              <a:buNone/>
            </a:pPr>
            <a:r>
              <a:t/>
            </a:r>
            <a:endParaRPr sz="1850">
              <a:solidFill>
                <a:schemeClr val="dk1"/>
              </a:solidFill>
            </a:endParaRPr>
          </a:p>
        </p:txBody>
      </p:sp>
      <p:sp>
        <p:nvSpPr>
          <p:cNvPr id="135" name="Google Shape;135;p16"/>
          <p:cNvSpPr txBox="1"/>
          <p:nvPr>
            <p:ph idx="4" type="body"/>
          </p:nvPr>
        </p:nvSpPr>
        <p:spPr>
          <a:xfrm>
            <a:off x="7389500" y="1846050"/>
            <a:ext cx="4326300" cy="4293000"/>
          </a:xfrm>
          <a:prstGeom prst="rect">
            <a:avLst/>
          </a:prstGeom>
          <a:solidFill>
            <a:srgbClr val="D0EEF9"/>
          </a:solidFill>
          <a:ln>
            <a:noFill/>
          </a:ln>
        </p:spPr>
        <p:txBody>
          <a:bodyPr anchorCtr="0" anchor="t" bIns="45700" lIns="0" spcFirstLastPara="1" rIns="0" wrap="square" tIns="45700">
            <a:noAutofit/>
          </a:bodyPr>
          <a:lstStyle/>
          <a:p>
            <a:pPr indent="-342900" lvl="0" marL="457200" rtl="0" algn="l">
              <a:lnSpc>
                <a:spcPct val="90000"/>
              </a:lnSpc>
              <a:spcBef>
                <a:spcPts val="1200"/>
              </a:spcBef>
              <a:spcAft>
                <a:spcPts val="0"/>
              </a:spcAft>
              <a:buSzPts val="1800"/>
              <a:buFont typeface="Arial"/>
              <a:buChar char="•"/>
            </a:pPr>
            <a:r>
              <a:rPr lang="en-US" sz="1800"/>
              <a:t>Unit Cost</a:t>
            </a:r>
            <a:endParaRPr/>
          </a:p>
          <a:p>
            <a:pPr indent="-342900" lvl="0" marL="457200" rtl="0" algn="l">
              <a:lnSpc>
                <a:spcPct val="90000"/>
              </a:lnSpc>
              <a:spcBef>
                <a:spcPts val="1200"/>
              </a:spcBef>
              <a:spcAft>
                <a:spcPts val="0"/>
              </a:spcAft>
              <a:buSzPts val="1800"/>
              <a:buFont typeface="Arial"/>
              <a:buChar char="•"/>
            </a:pPr>
            <a:r>
              <a:rPr lang="en-US" sz="1800"/>
              <a:t>Start-Up Costs and Operating Costs</a:t>
            </a:r>
            <a:endParaRPr/>
          </a:p>
          <a:p>
            <a:pPr indent="-342900" lvl="0" marL="457200" rtl="0" algn="l">
              <a:lnSpc>
                <a:spcPct val="90000"/>
              </a:lnSpc>
              <a:spcBef>
                <a:spcPts val="1200"/>
              </a:spcBef>
              <a:spcAft>
                <a:spcPts val="0"/>
              </a:spcAft>
              <a:buSzPts val="1800"/>
              <a:buFont typeface="Arial"/>
              <a:buChar char="•"/>
            </a:pPr>
            <a:r>
              <a:rPr lang="en-US" sz="1800"/>
              <a:t>Sales Projections</a:t>
            </a:r>
            <a:endParaRPr/>
          </a:p>
          <a:p>
            <a:pPr indent="-342900" lvl="0" marL="457200" rtl="0" algn="l">
              <a:lnSpc>
                <a:spcPct val="90000"/>
              </a:lnSpc>
              <a:spcBef>
                <a:spcPts val="1200"/>
              </a:spcBef>
              <a:spcAft>
                <a:spcPts val="0"/>
              </a:spcAft>
              <a:buSzPts val="1800"/>
              <a:buFont typeface="Arial"/>
              <a:buChar char="•"/>
            </a:pPr>
            <a:r>
              <a:rPr lang="en-US" sz="1800"/>
              <a:t>Income Statement Projections (3-5 yrs)</a:t>
            </a:r>
            <a:endParaRPr/>
          </a:p>
          <a:p>
            <a:pPr indent="-342900" lvl="0" marL="457200" rtl="0" algn="l">
              <a:lnSpc>
                <a:spcPct val="90000"/>
              </a:lnSpc>
              <a:spcBef>
                <a:spcPts val="1200"/>
              </a:spcBef>
              <a:spcAft>
                <a:spcPts val="0"/>
              </a:spcAft>
              <a:buSzPts val="1800"/>
              <a:buFont typeface="Arial"/>
              <a:buChar char="•"/>
            </a:pPr>
            <a:r>
              <a:rPr lang="en-US" sz="1800"/>
              <a:t>Balance Sheet Projections (3-5 yrs)</a:t>
            </a:r>
            <a:endParaRPr/>
          </a:p>
          <a:p>
            <a:pPr indent="-342900" lvl="0" marL="457200" rtl="0" algn="l">
              <a:lnSpc>
                <a:spcPct val="90000"/>
              </a:lnSpc>
              <a:spcBef>
                <a:spcPts val="1200"/>
              </a:spcBef>
              <a:spcAft>
                <a:spcPts val="0"/>
              </a:spcAft>
              <a:buSzPts val="1800"/>
              <a:buFont typeface="Arial"/>
              <a:buChar char="•"/>
            </a:pPr>
            <a:r>
              <a:rPr lang="en-US" sz="1800"/>
              <a:t>Fixed and Variable Costs</a:t>
            </a:r>
            <a:endParaRPr/>
          </a:p>
          <a:p>
            <a:pPr indent="-342900" lvl="0" marL="457200" rtl="0" algn="l">
              <a:lnSpc>
                <a:spcPct val="90000"/>
              </a:lnSpc>
              <a:spcBef>
                <a:spcPts val="1200"/>
              </a:spcBef>
              <a:spcAft>
                <a:spcPts val="0"/>
              </a:spcAft>
              <a:buSzPts val="1800"/>
              <a:buFont typeface="Arial"/>
              <a:buChar char="•"/>
            </a:pPr>
            <a:r>
              <a:rPr lang="en-US" sz="1800"/>
              <a:t>Break-Even</a:t>
            </a:r>
            <a:endParaRPr/>
          </a:p>
          <a:p>
            <a:pPr indent="-342900" lvl="0" marL="457200" rtl="0" algn="l">
              <a:lnSpc>
                <a:spcPct val="90000"/>
              </a:lnSpc>
              <a:spcBef>
                <a:spcPts val="1200"/>
              </a:spcBef>
              <a:spcAft>
                <a:spcPts val="0"/>
              </a:spcAft>
              <a:buSzPts val="1800"/>
              <a:buFont typeface="Arial"/>
              <a:buChar char="•"/>
            </a:pPr>
            <a:r>
              <a:rPr lang="en-US" sz="1800"/>
              <a:t>Free Cash Flow (Cash Flow Statement)</a:t>
            </a:r>
            <a:endParaRPr/>
          </a:p>
        </p:txBody>
      </p:sp>
      <p:sp>
        <p:nvSpPr>
          <p:cNvPr id="136" name="Google Shape;136;p16"/>
          <p:cNvSpPr/>
          <p:nvPr/>
        </p:nvSpPr>
        <p:spPr>
          <a:xfrm>
            <a:off x="932525" y="3833000"/>
            <a:ext cx="6597000" cy="392100"/>
          </a:xfrm>
          <a:prstGeom prst="rect">
            <a:avLst/>
          </a:prstGeom>
          <a:solidFill>
            <a:srgbClr val="D0EEF9"/>
          </a:solid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lang="en-US" sz="1800">
                <a:latin typeface="Calibri"/>
                <a:ea typeface="Calibri"/>
                <a:cs typeface="Calibri"/>
                <a:sym typeface="Calibri"/>
              </a:rPr>
              <a:t>D</a:t>
            </a:r>
            <a:r>
              <a:rPr b="0" i="0" lang="en-US" sz="1800" u="none" cap="none" strike="noStrike">
                <a:solidFill>
                  <a:srgbClr val="000000"/>
                </a:solidFill>
                <a:latin typeface="Calibri"/>
                <a:ea typeface="Calibri"/>
                <a:cs typeface="Calibri"/>
                <a:sym typeface="Calibri"/>
              </a:rPr>
              <a:t>.     Basic Entrepreneurial Finance Metrics </a:t>
            </a:r>
            <a:r>
              <a:rPr b="1" i="0" lang="en-US" sz="1800" u="none" cap="none" strike="noStrike">
                <a:solidFill>
                  <a:srgbClr val="000000"/>
                </a:solidFill>
                <a:latin typeface="Calibri"/>
                <a:ea typeface="Calibri"/>
                <a:cs typeface="Calibri"/>
                <a:sym typeface="Calibri"/>
              </a:rPr>
              <a:t>&gt;&gt;&gt;&gt;&gt;&gt;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1000"/>
                                        <p:tgtEl>
                                          <p:spTgt spid="1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1000"/>
                                        <p:tgtEl>
                                          <p:spTgt spid="1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animEffect filter="fade" transition="in">
                                      <p:cBhvr>
                                        <p:cTn dur="1000"/>
                                        <p:tgtEl>
                                          <p:spTgt spid="1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animEffect filter="fade" transition="in">
                                      <p:cBhvr>
                                        <p:cTn dur="1000"/>
                                        <p:tgtEl>
                                          <p:spTgt spid="1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animEffect filter="fade" transition="in">
                                      <p:cBhvr>
                                        <p:cTn dur="1000"/>
                                        <p:tgtEl>
                                          <p:spTgt spid="1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animEffect filter="fade" transition="in">
                                      <p:cBhvr>
                                        <p:cTn dur="1000"/>
                                        <p:tgtEl>
                                          <p:spTgt spid="1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6" st="6"/>
                                            </p:txEl>
                                          </p:spTgt>
                                        </p:tgtEl>
                                        <p:attrNameLst>
                                          <p:attrName>style.visibility</p:attrName>
                                        </p:attrNameLst>
                                      </p:cBhvr>
                                      <p:to>
                                        <p:strVal val="visible"/>
                                      </p:to>
                                    </p:set>
                                    <p:animEffect filter="fade" transition="in">
                                      <p:cBhvr>
                                        <p:cTn dur="1000"/>
                                        <p:tgtEl>
                                          <p:spTgt spid="13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7" st="7"/>
                                            </p:txEl>
                                          </p:spTgt>
                                        </p:tgtEl>
                                        <p:attrNameLst>
                                          <p:attrName>style.visibility</p:attrName>
                                        </p:attrNameLst>
                                      </p:cBhvr>
                                      <p:to>
                                        <p:strVal val="visible"/>
                                      </p:to>
                                    </p:set>
                                    <p:animEffect filter="fade" transition="in">
                                      <p:cBhvr>
                                        <p:cTn dur="1000"/>
                                        <p:tgtEl>
                                          <p:spTgt spid="13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8" st="8"/>
                                            </p:txEl>
                                          </p:spTgt>
                                        </p:tgtEl>
                                        <p:attrNameLst>
                                          <p:attrName>style.visibility</p:attrName>
                                        </p:attrNameLst>
                                      </p:cBhvr>
                                      <p:to>
                                        <p:strVal val="visible"/>
                                      </p:to>
                                    </p:set>
                                    <p:animEffect filter="fade" transition="in">
                                      <p:cBhvr>
                                        <p:cTn dur="1000"/>
                                        <p:tgtEl>
                                          <p:spTgt spid="13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9" st="9"/>
                                            </p:txEl>
                                          </p:spTgt>
                                        </p:tgtEl>
                                        <p:attrNameLst>
                                          <p:attrName>style.visibility</p:attrName>
                                        </p:attrNameLst>
                                      </p:cBhvr>
                                      <p:to>
                                        <p:strVal val="visible"/>
                                      </p:to>
                                    </p:set>
                                    <p:animEffect filter="fade" transition="in">
                                      <p:cBhvr>
                                        <p:cTn dur="1000"/>
                                        <p:tgtEl>
                                          <p:spTgt spid="13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10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Calibri"/>
              <a:buNone/>
            </a:pPr>
            <a:r>
              <a:rPr lang="en-US"/>
              <a:t>A. Left vs Right Brain</a:t>
            </a:r>
            <a:endParaRPr sz="1400"/>
          </a:p>
        </p:txBody>
      </p:sp>
      <p:cxnSp>
        <p:nvCxnSpPr>
          <p:cNvPr id="142" name="Google Shape;142;p17"/>
          <p:cNvCxnSpPr/>
          <p:nvPr/>
        </p:nvCxnSpPr>
        <p:spPr>
          <a:xfrm>
            <a:off x="5942650" y="1925425"/>
            <a:ext cx="50700" cy="4074000"/>
          </a:xfrm>
          <a:prstGeom prst="straightConnector1">
            <a:avLst/>
          </a:prstGeom>
          <a:noFill/>
          <a:ln cap="flat" cmpd="sng" w="38100">
            <a:solidFill>
              <a:schemeClr val="dk2"/>
            </a:solidFill>
            <a:prstDash val="dash"/>
            <a:round/>
            <a:headEnd len="med" w="med" type="none"/>
            <a:tailEnd len="med" w="med" type="none"/>
          </a:ln>
        </p:spPr>
      </p:cxnSp>
      <p:pic>
        <p:nvPicPr>
          <p:cNvPr id="143" name="Google Shape;143;p17"/>
          <p:cNvPicPr preferRelativeResize="0"/>
          <p:nvPr/>
        </p:nvPicPr>
        <p:blipFill>
          <a:blip r:embed="rId3">
            <a:alphaModFix/>
          </a:blip>
          <a:stretch>
            <a:fillRect/>
          </a:stretch>
        </p:blipFill>
        <p:spPr>
          <a:xfrm>
            <a:off x="278350" y="2016876"/>
            <a:ext cx="5582025" cy="3360600"/>
          </a:xfrm>
          <a:prstGeom prst="rect">
            <a:avLst/>
          </a:prstGeom>
          <a:noFill/>
          <a:ln>
            <a:noFill/>
          </a:ln>
        </p:spPr>
      </p:pic>
      <p:pic>
        <p:nvPicPr>
          <p:cNvPr id="144" name="Google Shape;144;p17"/>
          <p:cNvPicPr preferRelativeResize="0"/>
          <p:nvPr/>
        </p:nvPicPr>
        <p:blipFill>
          <a:blip r:embed="rId4">
            <a:alphaModFix/>
          </a:blip>
          <a:stretch>
            <a:fillRect/>
          </a:stretch>
        </p:blipFill>
        <p:spPr>
          <a:xfrm>
            <a:off x="6207750" y="1925427"/>
            <a:ext cx="4652325" cy="3628800"/>
          </a:xfrm>
          <a:prstGeom prst="rect">
            <a:avLst/>
          </a:prstGeom>
          <a:noFill/>
          <a:ln>
            <a:noFill/>
          </a:ln>
        </p:spPr>
      </p:pic>
      <p:sp>
        <p:nvSpPr>
          <p:cNvPr id="145" name="Google Shape;145;p17"/>
          <p:cNvSpPr txBox="1"/>
          <p:nvPr/>
        </p:nvSpPr>
        <p:spPr>
          <a:xfrm>
            <a:off x="867425" y="5554225"/>
            <a:ext cx="4141200" cy="63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rgbClr val="9900FF"/>
                </a:solidFill>
                <a:latin typeface="Calibri"/>
                <a:ea typeface="Calibri"/>
                <a:cs typeface="Calibri"/>
                <a:sym typeface="Calibri"/>
              </a:rPr>
              <a:t>Well-Defined Problems</a:t>
            </a:r>
            <a:endParaRPr b="1" sz="2600">
              <a:solidFill>
                <a:srgbClr val="9900FF"/>
              </a:solidFill>
              <a:latin typeface="Calibri"/>
              <a:ea typeface="Calibri"/>
              <a:cs typeface="Calibri"/>
              <a:sym typeface="Calibri"/>
            </a:endParaRPr>
          </a:p>
        </p:txBody>
      </p:sp>
      <p:sp>
        <p:nvSpPr>
          <p:cNvPr id="146" name="Google Shape;146;p17"/>
          <p:cNvSpPr txBox="1"/>
          <p:nvPr/>
        </p:nvSpPr>
        <p:spPr>
          <a:xfrm>
            <a:off x="6920513" y="5663200"/>
            <a:ext cx="4141200" cy="63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rgbClr val="9900FF"/>
                </a:solidFill>
                <a:latin typeface="Calibri"/>
                <a:ea typeface="Calibri"/>
                <a:cs typeface="Calibri"/>
                <a:sym typeface="Calibri"/>
              </a:rPr>
              <a:t>Ill-Defined</a:t>
            </a:r>
            <a:r>
              <a:rPr b="1" lang="en-US" sz="2600">
                <a:solidFill>
                  <a:srgbClr val="9900FF"/>
                </a:solidFill>
                <a:latin typeface="Calibri"/>
                <a:ea typeface="Calibri"/>
                <a:cs typeface="Calibri"/>
                <a:sym typeface="Calibri"/>
              </a:rPr>
              <a:t> Problems</a:t>
            </a:r>
            <a:endParaRPr b="1" sz="2600">
              <a:solidFill>
                <a:srgbClr val="9900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1000"/>
                                        <p:tgtEl>
                                          <p:spTgt spid="1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8"/>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Calibri"/>
              <a:buNone/>
            </a:pPr>
            <a:r>
              <a:rPr lang="en-US"/>
              <a:t>A. Left vs Right Brain</a:t>
            </a:r>
            <a:endParaRPr sz="1400"/>
          </a:p>
        </p:txBody>
      </p:sp>
      <p:cxnSp>
        <p:nvCxnSpPr>
          <p:cNvPr id="152" name="Google Shape;152;p18"/>
          <p:cNvCxnSpPr/>
          <p:nvPr/>
        </p:nvCxnSpPr>
        <p:spPr>
          <a:xfrm>
            <a:off x="5942650" y="1925425"/>
            <a:ext cx="50700" cy="4074000"/>
          </a:xfrm>
          <a:prstGeom prst="straightConnector1">
            <a:avLst/>
          </a:prstGeom>
          <a:noFill/>
          <a:ln cap="flat" cmpd="sng" w="38100">
            <a:solidFill>
              <a:schemeClr val="dk2"/>
            </a:solidFill>
            <a:prstDash val="dash"/>
            <a:round/>
            <a:headEnd len="med" w="med" type="none"/>
            <a:tailEnd len="med" w="med" type="none"/>
          </a:ln>
        </p:spPr>
      </p:cxnSp>
      <p:pic>
        <p:nvPicPr>
          <p:cNvPr id="153" name="Google Shape;153;p18"/>
          <p:cNvPicPr preferRelativeResize="0"/>
          <p:nvPr/>
        </p:nvPicPr>
        <p:blipFill>
          <a:blip r:embed="rId3">
            <a:alphaModFix/>
          </a:blip>
          <a:stretch>
            <a:fillRect/>
          </a:stretch>
        </p:blipFill>
        <p:spPr>
          <a:xfrm>
            <a:off x="489925" y="2077849"/>
            <a:ext cx="5190550" cy="2561775"/>
          </a:xfrm>
          <a:prstGeom prst="rect">
            <a:avLst/>
          </a:prstGeom>
          <a:noFill/>
          <a:ln>
            <a:noFill/>
          </a:ln>
        </p:spPr>
      </p:pic>
      <p:pic>
        <p:nvPicPr>
          <p:cNvPr id="154" name="Google Shape;154;p18"/>
          <p:cNvPicPr preferRelativeResize="0"/>
          <p:nvPr/>
        </p:nvPicPr>
        <p:blipFill>
          <a:blip r:embed="rId4">
            <a:alphaModFix/>
          </a:blip>
          <a:stretch>
            <a:fillRect/>
          </a:stretch>
        </p:blipFill>
        <p:spPr>
          <a:xfrm>
            <a:off x="6255525" y="2077850"/>
            <a:ext cx="4350551" cy="2628149"/>
          </a:xfrm>
          <a:prstGeom prst="rect">
            <a:avLst/>
          </a:prstGeom>
          <a:noFill/>
          <a:ln>
            <a:noFill/>
          </a:ln>
        </p:spPr>
      </p:pic>
      <p:sp>
        <p:nvSpPr>
          <p:cNvPr id="155" name="Google Shape;155;p18"/>
          <p:cNvSpPr txBox="1"/>
          <p:nvPr/>
        </p:nvSpPr>
        <p:spPr>
          <a:xfrm>
            <a:off x="6659888" y="4817850"/>
            <a:ext cx="4141200" cy="63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rgbClr val="9900FF"/>
                </a:solidFill>
                <a:latin typeface="Calibri"/>
                <a:ea typeface="Calibri"/>
                <a:cs typeface="Calibri"/>
                <a:sym typeface="Calibri"/>
              </a:rPr>
              <a:t>“AWESOME IDEA”</a:t>
            </a:r>
            <a:endParaRPr b="1" sz="2600">
              <a:solidFill>
                <a:srgbClr val="9900FF"/>
              </a:solidFill>
              <a:latin typeface="Calibri"/>
              <a:ea typeface="Calibri"/>
              <a:cs typeface="Calibri"/>
              <a:sym typeface="Calibri"/>
            </a:endParaRPr>
          </a:p>
          <a:p>
            <a:pPr indent="0" lvl="0" marL="0" rtl="0" algn="l">
              <a:spcBef>
                <a:spcPts val="0"/>
              </a:spcBef>
              <a:spcAft>
                <a:spcPts val="0"/>
              </a:spcAft>
              <a:buNone/>
            </a:pPr>
            <a:r>
              <a:rPr b="1" lang="en-US" sz="2600">
                <a:solidFill>
                  <a:srgbClr val="9900FF"/>
                </a:solidFill>
                <a:latin typeface="Calibri"/>
                <a:ea typeface="Calibri"/>
                <a:cs typeface="Calibri"/>
                <a:sym typeface="Calibri"/>
              </a:rPr>
              <a:t>“What do you think?</a:t>
            </a:r>
            <a:endParaRPr b="1" sz="2600">
              <a:solidFill>
                <a:srgbClr val="9900FF"/>
              </a:solidFill>
              <a:latin typeface="Calibri"/>
              <a:ea typeface="Calibri"/>
              <a:cs typeface="Calibri"/>
              <a:sym typeface="Calibri"/>
            </a:endParaRPr>
          </a:p>
          <a:p>
            <a:pPr indent="0" lvl="0" marL="0" rtl="0" algn="l">
              <a:spcBef>
                <a:spcPts val="0"/>
              </a:spcBef>
              <a:spcAft>
                <a:spcPts val="0"/>
              </a:spcAft>
              <a:buNone/>
            </a:pPr>
            <a:r>
              <a:rPr b="1" lang="en-US" sz="2600">
                <a:solidFill>
                  <a:srgbClr val="9900FF"/>
                </a:solidFill>
                <a:latin typeface="Calibri"/>
                <a:ea typeface="Calibri"/>
                <a:cs typeface="Calibri"/>
                <a:sym typeface="Calibri"/>
              </a:rPr>
              <a:t>“Give me money”</a:t>
            </a:r>
            <a:endParaRPr b="1" sz="2600">
              <a:solidFill>
                <a:srgbClr val="9900FF"/>
              </a:solidFill>
              <a:latin typeface="Calibri"/>
              <a:ea typeface="Calibri"/>
              <a:cs typeface="Calibri"/>
              <a:sym typeface="Calibri"/>
            </a:endParaRPr>
          </a:p>
        </p:txBody>
      </p:sp>
      <p:sp>
        <p:nvSpPr>
          <p:cNvPr id="156" name="Google Shape;156;p18"/>
          <p:cNvSpPr txBox="1"/>
          <p:nvPr/>
        </p:nvSpPr>
        <p:spPr>
          <a:xfrm>
            <a:off x="548875" y="4751475"/>
            <a:ext cx="4980900" cy="63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rgbClr val="9900FF"/>
                </a:solidFill>
                <a:latin typeface="Calibri"/>
                <a:ea typeface="Calibri"/>
                <a:cs typeface="Calibri"/>
                <a:sym typeface="Calibri"/>
              </a:rPr>
              <a:t>“Hmmmm, really? “Sounds Risky”</a:t>
            </a:r>
            <a:endParaRPr b="1" sz="2600">
              <a:solidFill>
                <a:srgbClr val="9900FF"/>
              </a:solidFill>
              <a:latin typeface="Calibri"/>
              <a:ea typeface="Calibri"/>
              <a:cs typeface="Calibri"/>
              <a:sym typeface="Calibri"/>
            </a:endParaRPr>
          </a:p>
          <a:p>
            <a:pPr indent="0" lvl="0" marL="0" rtl="0" algn="l">
              <a:spcBef>
                <a:spcPts val="0"/>
              </a:spcBef>
              <a:spcAft>
                <a:spcPts val="0"/>
              </a:spcAft>
              <a:buNone/>
            </a:pPr>
            <a:r>
              <a:rPr b="1" lang="en-US" sz="2600">
                <a:solidFill>
                  <a:srgbClr val="9900FF"/>
                </a:solidFill>
                <a:latin typeface="Calibri"/>
                <a:ea typeface="Calibri"/>
                <a:cs typeface="Calibri"/>
                <a:sym typeface="Calibri"/>
              </a:rPr>
              <a:t>“Prove it” </a:t>
            </a:r>
            <a:endParaRPr b="1" sz="2600">
              <a:solidFill>
                <a:srgbClr val="9900FF"/>
              </a:solidFill>
              <a:latin typeface="Calibri"/>
              <a:ea typeface="Calibri"/>
              <a:cs typeface="Calibri"/>
              <a:sym typeface="Calibri"/>
            </a:endParaRPr>
          </a:p>
          <a:p>
            <a:pPr indent="0" lvl="0" marL="0" rtl="0" algn="l">
              <a:spcBef>
                <a:spcPts val="0"/>
              </a:spcBef>
              <a:spcAft>
                <a:spcPts val="0"/>
              </a:spcAft>
              <a:buNone/>
            </a:pPr>
            <a:r>
              <a:rPr b="1" lang="en-US" sz="2600">
                <a:solidFill>
                  <a:srgbClr val="9900FF"/>
                </a:solidFill>
                <a:latin typeface="Calibri"/>
                <a:ea typeface="Calibri"/>
                <a:cs typeface="Calibri"/>
                <a:sym typeface="Calibri"/>
              </a:rPr>
              <a:t>“How Much?”</a:t>
            </a:r>
            <a:endParaRPr b="1" sz="2600">
              <a:solidFill>
                <a:srgbClr val="9900FF"/>
              </a:solidFill>
              <a:latin typeface="Calibri"/>
              <a:ea typeface="Calibri"/>
              <a:cs typeface="Calibri"/>
              <a:sym typeface="Calibri"/>
            </a:endParaRPr>
          </a:p>
        </p:txBody>
      </p:sp>
      <p:sp>
        <p:nvSpPr>
          <p:cNvPr id="157" name="Google Shape;157;p18"/>
          <p:cNvSpPr txBox="1"/>
          <p:nvPr/>
        </p:nvSpPr>
        <p:spPr>
          <a:xfrm>
            <a:off x="1272875" y="1875375"/>
            <a:ext cx="3475200" cy="63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500">
                <a:latin typeface="Calibri"/>
                <a:ea typeface="Calibri"/>
                <a:cs typeface="Calibri"/>
                <a:sym typeface="Calibri"/>
              </a:rPr>
              <a:t>Yourself, Friends, Family</a:t>
            </a:r>
            <a:endParaRPr b="1" sz="1500">
              <a:latin typeface="Calibri"/>
              <a:ea typeface="Calibri"/>
              <a:cs typeface="Calibri"/>
              <a:sym typeface="Calibri"/>
            </a:endParaRPr>
          </a:p>
          <a:p>
            <a:pPr indent="0" lvl="0" marL="0" rtl="0" algn="l">
              <a:spcBef>
                <a:spcPts val="0"/>
              </a:spcBef>
              <a:spcAft>
                <a:spcPts val="0"/>
              </a:spcAft>
              <a:buNone/>
            </a:pPr>
            <a:r>
              <a:rPr b="1" lang="en-US" sz="1500">
                <a:latin typeface="Calibri"/>
                <a:ea typeface="Calibri"/>
                <a:cs typeface="Calibri"/>
                <a:sym typeface="Calibri"/>
              </a:rPr>
              <a:t>Angel Investors, VCs, etc.</a:t>
            </a:r>
            <a:endParaRPr b="1" sz="1500">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par>
                                <p:cTn fill="hold" nodeType="with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Calibri"/>
              <a:buNone/>
            </a:pPr>
            <a:r>
              <a:rPr lang="en-US"/>
              <a:t>A. Bridging the Left-Right Brain</a:t>
            </a:r>
            <a:endParaRPr sz="1400"/>
          </a:p>
        </p:txBody>
      </p:sp>
      <p:cxnSp>
        <p:nvCxnSpPr>
          <p:cNvPr id="163" name="Google Shape;163;p19"/>
          <p:cNvCxnSpPr/>
          <p:nvPr/>
        </p:nvCxnSpPr>
        <p:spPr>
          <a:xfrm>
            <a:off x="5942650" y="1925425"/>
            <a:ext cx="50700" cy="4074000"/>
          </a:xfrm>
          <a:prstGeom prst="straightConnector1">
            <a:avLst/>
          </a:prstGeom>
          <a:noFill/>
          <a:ln cap="flat" cmpd="sng" w="38100">
            <a:solidFill>
              <a:schemeClr val="dk2"/>
            </a:solidFill>
            <a:prstDash val="dash"/>
            <a:round/>
            <a:headEnd len="med" w="med" type="none"/>
            <a:tailEnd len="med" w="med" type="none"/>
          </a:ln>
        </p:spPr>
      </p:cxnSp>
      <p:pic>
        <p:nvPicPr>
          <p:cNvPr id="164" name="Google Shape;164;p19"/>
          <p:cNvPicPr preferRelativeResize="0"/>
          <p:nvPr/>
        </p:nvPicPr>
        <p:blipFill>
          <a:blip r:embed="rId3">
            <a:alphaModFix/>
          </a:blip>
          <a:stretch>
            <a:fillRect/>
          </a:stretch>
        </p:blipFill>
        <p:spPr>
          <a:xfrm>
            <a:off x="2569475" y="2220000"/>
            <a:ext cx="6623575" cy="3322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0"/>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3F3F3F"/>
              </a:buClr>
              <a:buSzPts val="4800"/>
              <a:buFont typeface="Calibri"/>
              <a:buNone/>
            </a:pPr>
            <a:r>
              <a:rPr lang="en-US"/>
              <a:t>A. Bridging the Left-Right Brain</a:t>
            </a:r>
            <a:endParaRPr sz="1400"/>
          </a:p>
        </p:txBody>
      </p:sp>
      <p:cxnSp>
        <p:nvCxnSpPr>
          <p:cNvPr id="170" name="Google Shape;170;p20"/>
          <p:cNvCxnSpPr/>
          <p:nvPr/>
        </p:nvCxnSpPr>
        <p:spPr>
          <a:xfrm>
            <a:off x="5942650" y="1925425"/>
            <a:ext cx="50700" cy="4074000"/>
          </a:xfrm>
          <a:prstGeom prst="straightConnector1">
            <a:avLst/>
          </a:prstGeom>
          <a:noFill/>
          <a:ln cap="flat" cmpd="sng" w="38100">
            <a:solidFill>
              <a:schemeClr val="dk2"/>
            </a:solidFill>
            <a:prstDash val="dash"/>
            <a:round/>
            <a:headEnd len="med" w="med" type="none"/>
            <a:tailEnd len="med" w="med" type="none"/>
          </a:ln>
        </p:spPr>
      </p:cxnSp>
      <p:grpSp>
        <p:nvGrpSpPr>
          <p:cNvPr id="171" name="Google Shape;171;p20"/>
          <p:cNvGrpSpPr/>
          <p:nvPr/>
        </p:nvGrpSpPr>
        <p:grpSpPr>
          <a:xfrm>
            <a:off x="2760110" y="2483523"/>
            <a:ext cx="6316838" cy="3373550"/>
            <a:chOff x="425775" y="3774508"/>
            <a:chExt cx="5302475" cy="2275735"/>
          </a:xfrm>
        </p:grpSpPr>
        <p:pic>
          <p:nvPicPr>
            <p:cNvPr id="172" name="Google Shape;172;p20"/>
            <p:cNvPicPr preferRelativeResize="0"/>
            <p:nvPr/>
          </p:nvPicPr>
          <p:blipFill>
            <a:blip r:embed="rId3">
              <a:alphaModFix/>
            </a:blip>
            <a:stretch>
              <a:fillRect/>
            </a:stretch>
          </p:blipFill>
          <p:spPr>
            <a:xfrm>
              <a:off x="425779" y="4246959"/>
              <a:ext cx="5302471" cy="1803285"/>
            </a:xfrm>
            <a:prstGeom prst="rect">
              <a:avLst/>
            </a:prstGeom>
            <a:noFill/>
            <a:ln>
              <a:noFill/>
            </a:ln>
          </p:spPr>
        </p:pic>
        <p:pic>
          <p:nvPicPr>
            <p:cNvPr id="173" name="Google Shape;173;p20"/>
            <p:cNvPicPr preferRelativeResize="0"/>
            <p:nvPr/>
          </p:nvPicPr>
          <p:blipFill>
            <a:blip r:embed="rId4">
              <a:alphaModFix/>
            </a:blip>
            <a:stretch>
              <a:fillRect/>
            </a:stretch>
          </p:blipFill>
          <p:spPr>
            <a:xfrm>
              <a:off x="425775" y="3774508"/>
              <a:ext cx="5302475" cy="892442"/>
            </a:xfrm>
            <a:prstGeom prst="rect">
              <a:avLst/>
            </a:prstGeom>
            <a:noFill/>
            <a:ln>
              <a:noFill/>
            </a:ln>
          </p:spPr>
        </p:pic>
      </p:grpSp>
      <p:sp>
        <p:nvSpPr>
          <p:cNvPr id="174" name="Google Shape;174;p20"/>
          <p:cNvSpPr txBox="1"/>
          <p:nvPr/>
        </p:nvSpPr>
        <p:spPr>
          <a:xfrm>
            <a:off x="722625" y="2729700"/>
            <a:ext cx="1911300" cy="195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latin typeface="Calibri"/>
                <a:ea typeface="Calibri"/>
                <a:cs typeface="Calibri"/>
                <a:sym typeface="Calibri"/>
              </a:rPr>
              <a:t>Common Language in Business and in Entrepreneurship</a:t>
            </a:r>
            <a:endParaRPr b="1" sz="1600">
              <a:latin typeface="Calibri"/>
              <a:ea typeface="Calibri"/>
              <a:cs typeface="Calibri"/>
              <a:sym typeface="Calibri"/>
            </a:endParaRPr>
          </a:p>
        </p:txBody>
      </p:sp>
      <p:pic>
        <p:nvPicPr>
          <p:cNvPr id="175" name="Google Shape;175;p20"/>
          <p:cNvPicPr preferRelativeResize="0"/>
          <p:nvPr/>
        </p:nvPicPr>
        <p:blipFill>
          <a:blip r:embed="rId5">
            <a:alphaModFix/>
          </a:blip>
          <a:stretch>
            <a:fillRect/>
          </a:stretch>
        </p:blipFill>
        <p:spPr>
          <a:xfrm>
            <a:off x="9203124" y="2657228"/>
            <a:ext cx="2810250" cy="187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10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Calibri"/>
              <a:buNone/>
            </a:pPr>
            <a:r>
              <a:rPr lang="en-US"/>
              <a:t>A. Left vs Right Brain</a:t>
            </a:r>
            <a:endParaRPr sz="1400"/>
          </a:p>
        </p:txBody>
      </p:sp>
      <p:sp>
        <p:nvSpPr>
          <p:cNvPr id="181" name="Google Shape;181;p21"/>
          <p:cNvSpPr txBox="1"/>
          <p:nvPr/>
        </p:nvSpPr>
        <p:spPr>
          <a:xfrm>
            <a:off x="3897450" y="1948725"/>
            <a:ext cx="1709700" cy="1815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entrepreneurship</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process</a:t>
            </a:r>
            <a:r>
              <a:rPr b="0" i="0" lang="en-US" sz="1400" u="none" cap="none" strike="noStrike">
                <a:solidFill>
                  <a:srgbClr val="000000"/>
                </a:solidFill>
                <a:latin typeface="Arial"/>
                <a:ea typeface="Arial"/>
                <a:cs typeface="Arial"/>
                <a:sym typeface="Arial"/>
              </a:rPr>
              <a:t> of </a:t>
            </a:r>
            <a:r>
              <a:rPr b="1" i="0" lang="en-US" sz="1400" u="none" cap="none" strike="noStrike">
                <a:solidFill>
                  <a:srgbClr val="000000"/>
                </a:solidFill>
                <a:latin typeface="Arial"/>
                <a:ea typeface="Arial"/>
                <a:cs typeface="Arial"/>
                <a:sym typeface="Arial"/>
              </a:rPr>
              <a:t>converting</a:t>
            </a:r>
            <a:r>
              <a:rPr b="0" i="0" lang="en-US" sz="1400" u="none" cap="none" strike="noStrike">
                <a:solidFill>
                  <a:srgbClr val="000000"/>
                </a:solidFill>
                <a:latin typeface="Arial"/>
                <a:ea typeface="Arial"/>
                <a:cs typeface="Arial"/>
                <a:sym typeface="Arial"/>
              </a:rPr>
              <a:t> ideas into commercial opportunities and </a:t>
            </a:r>
            <a:r>
              <a:rPr b="0" i="0" lang="en-US" sz="1400" u="none" cap="none" strike="noStrike">
                <a:solidFill>
                  <a:srgbClr val="000000"/>
                </a:solidFill>
                <a:highlight>
                  <a:srgbClr val="FFFF00"/>
                </a:highlight>
                <a:latin typeface="Arial"/>
                <a:ea typeface="Arial"/>
                <a:cs typeface="Arial"/>
                <a:sym typeface="Arial"/>
              </a:rPr>
              <a:t>creating value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 name="Google Shape;182;p21"/>
          <p:cNvSpPr/>
          <p:nvPr/>
        </p:nvSpPr>
        <p:spPr>
          <a:xfrm>
            <a:off x="2253521" y="1948721"/>
            <a:ext cx="1644000" cy="267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entrepreneurial opportunities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ideas</a:t>
            </a:r>
            <a:r>
              <a:rPr b="0" i="0" lang="en-US" sz="1400" u="none" cap="none" strike="noStrike">
                <a:solidFill>
                  <a:srgbClr val="000000"/>
                </a:solidFill>
                <a:latin typeface="Arial"/>
                <a:ea typeface="Arial"/>
                <a:cs typeface="Arial"/>
                <a:sym typeface="Arial"/>
              </a:rPr>
              <a:t> with potential to </a:t>
            </a:r>
            <a:r>
              <a:rPr b="0" i="0" lang="en-US" sz="1400" u="none" cap="none" strike="noStrike">
                <a:solidFill>
                  <a:srgbClr val="000000"/>
                </a:solidFill>
                <a:highlight>
                  <a:srgbClr val="FFFF00"/>
                </a:highlight>
                <a:latin typeface="Arial"/>
                <a:ea typeface="Arial"/>
                <a:cs typeface="Arial"/>
                <a:sym typeface="Arial"/>
              </a:rPr>
              <a:t>create value</a:t>
            </a:r>
            <a:r>
              <a:rPr b="0" i="0" lang="en-US" sz="1400" u="none" cap="none" strike="noStrike">
                <a:solidFill>
                  <a:srgbClr val="000000"/>
                </a:solidFill>
                <a:latin typeface="Arial"/>
                <a:ea typeface="Arial"/>
                <a:cs typeface="Arial"/>
                <a:sym typeface="Arial"/>
              </a:rPr>
              <a:t> through different or new, repackaged, or repositioned products, markets, processes, or services</a:t>
            </a:r>
            <a:endParaRPr/>
          </a:p>
        </p:txBody>
      </p:sp>
      <p:sp>
        <p:nvSpPr>
          <p:cNvPr id="183" name="Google Shape;183;p21"/>
          <p:cNvSpPr/>
          <p:nvPr/>
        </p:nvSpPr>
        <p:spPr>
          <a:xfrm>
            <a:off x="3897441" y="3764603"/>
            <a:ext cx="1644000" cy="1815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entrepreneur</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individual</a:t>
            </a:r>
            <a:r>
              <a:rPr b="0" i="0" lang="en-US" sz="1400" u="none" cap="none" strike="noStrike">
                <a:solidFill>
                  <a:srgbClr val="000000"/>
                </a:solidFill>
                <a:latin typeface="Arial"/>
                <a:ea typeface="Arial"/>
                <a:cs typeface="Arial"/>
                <a:sym typeface="Arial"/>
              </a:rPr>
              <a:t> who </a:t>
            </a:r>
            <a:r>
              <a:rPr b="1" i="0" lang="en-US" sz="1400" u="none" cap="none" strike="noStrike">
                <a:solidFill>
                  <a:srgbClr val="000000"/>
                </a:solidFill>
                <a:latin typeface="Arial"/>
                <a:ea typeface="Arial"/>
                <a:cs typeface="Arial"/>
                <a:sym typeface="Arial"/>
              </a:rPr>
              <a:t>thinks and acts</a:t>
            </a:r>
            <a:r>
              <a:rPr b="0" i="0" lang="en-US" sz="1400" u="none" cap="none" strike="noStrike">
                <a:solidFill>
                  <a:srgbClr val="000000"/>
                </a:solidFill>
                <a:latin typeface="Arial"/>
                <a:ea typeface="Arial"/>
                <a:cs typeface="Arial"/>
                <a:sym typeface="Arial"/>
              </a:rPr>
              <a:t> to convert ideas into commercial opportunities and to </a:t>
            </a:r>
            <a:r>
              <a:rPr b="0" i="0" lang="en-US" sz="1400" u="none" cap="none" strike="noStrike">
                <a:solidFill>
                  <a:srgbClr val="000000"/>
                </a:solidFill>
                <a:highlight>
                  <a:srgbClr val="FFFF00"/>
                </a:highlight>
                <a:latin typeface="Arial"/>
                <a:ea typeface="Arial"/>
                <a:cs typeface="Arial"/>
                <a:sym typeface="Arial"/>
              </a:rPr>
              <a:t>create value</a:t>
            </a:r>
            <a:endParaRPr/>
          </a:p>
        </p:txBody>
      </p:sp>
      <p:sp>
        <p:nvSpPr>
          <p:cNvPr id="184" name="Google Shape;184;p21"/>
          <p:cNvSpPr/>
          <p:nvPr/>
        </p:nvSpPr>
        <p:spPr>
          <a:xfrm>
            <a:off x="609601" y="1954474"/>
            <a:ext cx="1644000" cy="1385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innovation</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introduction of a </a:t>
            </a:r>
            <a:r>
              <a:rPr b="1" i="0" lang="en-US" sz="1400" u="none" cap="none" strike="noStrike">
                <a:solidFill>
                  <a:srgbClr val="000000"/>
                </a:solidFill>
                <a:latin typeface="Arial"/>
                <a:ea typeface="Arial"/>
                <a:cs typeface="Arial"/>
                <a:sym typeface="Arial"/>
              </a:rPr>
              <a:t>new idea</a:t>
            </a:r>
            <a:r>
              <a:rPr b="0" i="0" lang="en-US" sz="1400" u="none" cap="none" strike="noStrike">
                <a:solidFill>
                  <a:srgbClr val="000000"/>
                </a:solidFill>
                <a:latin typeface="Arial"/>
                <a:ea typeface="Arial"/>
                <a:cs typeface="Arial"/>
                <a:sym typeface="Arial"/>
              </a:rPr>
              <a:t>, product, or process</a:t>
            </a:r>
            <a:endParaRPr/>
          </a:p>
        </p:txBody>
      </p:sp>
      <p:sp>
        <p:nvSpPr>
          <p:cNvPr id="185" name="Google Shape;185;p21"/>
          <p:cNvSpPr/>
          <p:nvPr/>
        </p:nvSpPr>
        <p:spPr>
          <a:xfrm>
            <a:off x="1478275" y="5164800"/>
            <a:ext cx="3214800" cy="1450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300" u="none" cap="none" strike="noStrike">
                <a:solidFill>
                  <a:srgbClr val="000000"/>
                </a:solidFill>
                <a:latin typeface="Arial"/>
                <a:ea typeface="Arial"/>
                <a:cs typeface="Arial"/>
                <a:sym typeface="Arial"/>
              </a:rPr>
              <a:t>entrepreneurial process</a:t>
            </a:r>
            <a:endParaRPr sz="1300"/>
          </a:p>
          <a:p>
            <a:pPr indent="0" lvl="0" marL="0" marR="0" rtl="0" algn="l">
              <a:lnSpc>
                <a:spcPct val="100000"/>
              </a:lnSpc>
              <a:spcBef>
                <a:spcPts val="0"/>
              </a:spcBef>
              <a:spcAft>
                <a:spcPts val="0"/>
              </a:spcAft>
              <a:buNone/>
            </a:pPr>
            <a:r>
              <a:rPr b="0" i="0" lang="en-US" sz="1300" u="none" cap="none" strike="noStrike">
                <a:solidFill>
                  <a:srgbClr val="000000"/>
                </a:solidFill>
                <a:latin typeface="Arial"/>
                <a:ea typeface="Arial"/>
                <a:cs typeface="Arial"/>
                <a:sym typeface="Arial"/>
              </a:rPr>
              <a:t>...........................</a:t>
            </a:r>
            <a:endParaRPr sz="1300"/>
          </a:p>
          <a:p>
            <a:pPr indent="0" lvl="0" marL="0" marR="0" rtl="0" algn="l">
              <a:lnSpc>
                <a:spcPct val="100000"/>
              </a:lnSpc>
              <a:spcBef>
                <a:spcPts val="0"/>
              </a:spcBef>
              <a:spcAft>
                <a:spcPts val="0"/>
              </a:spcAft>
              <a:buNone/>
            </a:pPr>
            <a:r>
              <a:rPr b="0" i="0" lang="en-US" sz="1300" u="sng" cap="none" strike="noStrike">
                <a:solidFill>
                  <a:srgbClr val="000000"/>
                </a:solidFill>
                <a:latin typeface="Arial"/>
                <a:ea typeface="Arial"/>
                <a:cs typeface="Arial"/>
                <a:sym typeface="Arial"/>
              </a:rPr>
              <a:t>developing opportunities</a:t>
            </a:r>
            <a:r>
              <a:rPr b="0" i="0" lang="en-US" sz="1300" u="none" cap="none" strike="noStrike">
                <a:solidFill>
                  <a:srgbClr val="000000"/>
                </a:solidFill>
                <a:latin typeface="Arial"/>
                <a:ea typeface="Arial"/>
                <a:cs typeface="Arial"/>
                <a:sym typeface="Arial"/>
              </a:rPr>
              <a:t>, </a:t>
            </a:r>
            <a:r>
              <a:rPr b="0" i="0" lang="en-US" sz="1300" u="sng" cap="none" strike="noStrike">
                <a:solidFill>
                  <a:srgbClr val="000000"/>
                </a:solidFill>
                <a:latin typeface="Arial"/>
                <a:ea typeface="Arial"/>
                <a:cs typeface="Arial"/>
                <a:sym typeface="Arial"/>
              </a:rPr>
              <a:t>gathering resources</a:t>
            </a:r>
            <a:r>
              <a:rPr b="0" i="0" lang="en-US" sz="1300" u="none" cap="none" strike="noStrike">
                <a:solidFill>
                  <a:srgbClr val="000000"/>
                </a:solidFill>
                <a:latin typeface="Arial"/>
                <a:ea typeface="Arial"/>
                <a:cs typeface="Arial"/>
                <a:sym typeface="Arial"/>
              </a:rPr>
              <a:t>, and </a:t>
            </a:r>
            <a:r>
              <a:rPr b="0" i="0" lang="en-US" sz="1300" u="sng" cap="none" strike="noStrike">
                <a:solidFill>
                  <a:srgbClr val="000000"/>
                </a:solidFill>
                <a:latin typeface="Arial"/>
                <a:ea typeface="Arial"/>
                <a:cs typeface="Arial"/>
                <a:sym typeface="Arial"/>
              </a:rPr>
              <a:t>managing and building operations</a:t>
            </a:r>
            <a:r>
              <a:rPr b="0" i="0" lang="en-US" sz="1300" u="none" cap="none" strike="noStrike">
                <a:solidFill>
                  <a:srgbClr val="000000"/>
                </a:solidFill>
                <a:latin typeface="Arial"/>
                <a:ea typeface="Arial"/>
                <a:cs typeface="Arial"/>
                <a:sym typeface="Arial"/>
              </a:rPr>
              <a:t> with the goal of </a:t>
            </a:r>
            <a:r>
              <a:rPr b="0" i="0" lang="en-US" sz="1300" u="none" cap="none" strike="noStrike">
                <a:solidFill>
                  <a:srgbClr val="000000"/>
                </a:solidFill>
                <a:highlight>
                  <a:srgbClr val="FFFF00"/>
                </a:highlight>
                <a:latin typeface="Arial"/>
                <a:ea typeface="Arial"/>
                <a:cs typeface="Arial"/>
                <a:sym typeface="Arial"/>
              </a:rPr>
              <a:t>creating value</a:t>
            </a:r>
            <a:endParaRPr sz="1300"/>
          </a:p>
        </p:txBody>
      </p:sp>
      <p:sp>
        <p:nvSpPr>
          <p:cNvPr id="186" name="Google Shape;186;p21"/>
          <p:cNvSpPr/>
          <p:nvPr/>
        </p:nvSpPr>
        <p:spPr>
          <a:xfrm>
            <a:off x="6498727" y="1950784"/>
            <a:ext cx="2058600" cy="24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entrepreneurial finance</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sng" cap="none" strike="noStrike">
                <a:solidFill>
                  <a:srgbClr val="000000"/>
                </a:solidFill>
                <a:latin typeface="Arial"/>
                <a:ea typeface="Arial"/>
                <a:cs typeface="Arial"/>
                <a:sym typeface="Arial"/>
              </a:rPr>
              <a:t>application</a:t>
            </a:r>
            <a:r>
              <a:rPr b="0" i="0" lang="en-US" sz="1400" u="none" cap="none" strike="noStrike">
                <a:solidFill>
                  <a:srgbClr val="000000"/>
                </a:solidFill>
                <a:latin typeface="Arial"/>
                <a:ea typeface="Arial"/>
                <a:cs typeface="Arial"/>
                <a:sym typeface="Arial"/>
              </a:rPr>
              <a:t> and adaptation of financial tools and techniques to the </a:t>
            </a:r>
            <a:r>
              <a:rPr b="0" i="0" lang="en-US" sz="1400" u="sng" cap="none" strike="noStrike">
                <a:solidFill>
                  <a:srgbClr val="000000"/>
                </a:solidFill>
                <a:latin typeface="Arial"/>
                <a:ea typeface="Arial"/>
                <a:cs typeface="Arial"/>
                <a:sym typeface="Arial"/>
              </a:rPr>
              <a:t>planning</a:t>
            </a:r>
            <a:r>
              <a:rPr b="0" i="0" lang="en-US" sz="1400" u="none" cap="none" strike="noStrike">
                <a:solidFill>
                  <a:srgbClr val="000000"/>
                </a:solidFill>
                <a:latin typeface="Arial"/>
                <a:ea typeface="Arial"/>
                <a:cs typeface="Arial"/>
                <a:sym typeface="Arial"/>
              </a:rPr>
              <a:t>, </a:t>
            </a:r>
            <a:r>
              <a:rPr b="0" i="0" lang="en-US" sz="1400" u="sng" cap="none" strike="noStrike">
                <a:solidFill>
                  <a:srgbClr val="000000"/>
                </a:solidFill>
                <a:latin typeface="Arial"/>
                <a:ea typeface="Arial"/>
                <a:cs typeface="Arial"/>
                <a:sym typeface="Arial"/>
              </a:rPr>
              <a:t>funding</a:t>
            </a:r>
            <a:r>
              <a:rPr b="0" i="0" lang="en-US" sz="1400" u="none" cap="none" strike="noStrike">
                <a:solidFill>
                  <a:srgbClr val="000000"/>
                </a:solidFill>
                <a:latin typeface="Arial"/>
                <a:ea typeface="Arial"/>
                <a:cs typeface="Arial"/>
                <a:sym typeface="Arial"/>
              </a:rPr>
              <a:t>, </a:t>
            </a:r>
            <a:r>
              <a:rPr b="0" i="0" lang="en-US" sz="1400" u="sng" cap="none" strike="noStrike">
                <a:solidFill>
                  <a:srgbClr val="000000"/>
                </a:solidFill>
                <a:latin typeface="Arial"/>
                <a:ea typeface="Arial"/>
                <a:cs typeface="Arial"/>
                <a:sym typeface="Arial"/>
              </a:rPr>
              <a:t>operations</a:t>
            </a:r>
            <a:r>
              <a:rPr b="0" i="0" lang="en-US" sz="1400" u="none" cap="none" strike="noStrike">
                <a:solidFill>
                  <a:srgbClr val="000000"/>
                </a:solidFill>
                <a:latin typeface="Arial"/>
                <a:ea typeface="Arial"/>
                <a:cs typeface="Arial"/>
                <a:sym typeface="Arial"/>
              </a:rPr>
              <a:t>, and </a:t>
            </a:r>
            <a:r>
              <a:rPr b="0" i="0" lang="en-US" sz="1400" u="sng" cap="none" strike="noStrike">
                <a:solidFill>
                  <a:srgbClr val="000000"/>
                </a:solidFill>
                <a:highlight>
                  <a:srgbClr val="FFFF00"/>
                </a:highlight>
                <a:latin typeface="Arial"/>
                <a:ea typeface="Arial"/>
                <a:cs typeface="Arial"/>
                <a:sym typeface="Arial"/>
              </a:rPr>
              <a:t>valuation</a:t>
            </a:r>
            <a:r>
              <a:rPr b="0" i="0" lang="en-US" sz="1400" u="none" cap="none" strike="noStrike">
                <a:solidFill>
                  <a:srgbClr val="000000"/>
                </a:solidFill>
                <a:latin typeface="Arial"/>
                <a:ea typeface="Arial"/>
                <a:cs typeface="Arial"/>
                <a:sym typeface="Arial"/>
              </a:rPr>
              <a:t> of an entrepreneurial venture</a:t>
            </a:r>
            <a:endParaRPr/>
          </a:p>
        </p:txBody>
      </p:sp>
      <p:sp>
        <p:nvSpPr>
          <p:cNvPr id="187" name="Google Shape;187;p21"/>
          <p:cNvSpPr/>
          <p:nvPr/>
        </p:nvSpPr>
        <p:spPr>
          <a:xfrm>
            <a:off x="609600" y="3508652"/>
            <a:ext cx="1644000" cy="1815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disruptive innovation</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an innovation that creates a new market or network that disrupts and displaces </a:t>
            </a:r>
            <a:endParaRPr/>
          </a:p>
        </p:txBody>
      </p:sp>
      <p:sp>
        <p:nvSpPr>
          <p:cNvPr id="188" name="Google Shape;188;p21"/>
          <p:cNvSpPr/>
          <p:nvPr/>
        </p:nvSpPr>
        <p:spPr>
          <a:xfrm>
            <a:off x="6313375" y="4880250"/>
            <a:ext cx="3367800" cy="1200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Calibri"/>
                <a:ea typeface="Calibri"/>
                <a:cs typeface="Calibri"/>
                <a:sym typeface="Calibri"/>
              </a:rPr>
              <a:t>Free cash </a:t>
            </a:r>
            <a:endParaRPr sz="1200"/>
          </a:p>
          <a:p>
            <a:pPr indent="0" lvl="0" marL="0" marR="0" rtl="0" algn="l">
              <a:lnSpc>
                <a:spcPct val="100000"/>
              </a:lnSpc>
              <a:spcBef>
                <a:spcPts val="0"/>
              </a:spcBef>
              <a:spcAft>
                <a:spcPts val="0"/>
              </a:spcAft>
              <a:buNone/>
            </a:pPr>
            <a:r>
              <a:rPr b="0" i="0" lang="en-US" sz="1600" u="none" cap="none" strike="noStrike">
                <a:solidFill>
                  <a:srgbClr val="000000"/>
                </a:solidFill>
                <a:latin typeface="Calibri"/>
                <a:ea typeface="Calibri"/>
                <a:cs typeface="Calibri"/>
                <a:sym typeface="Calibri"/>
              </a:rPr>
              <a:t>.......................</a:t>
            </a:r>
            <a:endParaRPr sz="1200"/>
          </a:p>
          <a:p>
            <a:pPr indent="0" lvl="0" marL="0" marR="0" rtl="0" algn="l">
              <a:lnSpc>
                <a:spcPct val="100000"/>
              </a:lnSpc>
              <a:spcBef>
                <a:spcPts val="0"/>
              </a:spcBef>
              <a:spcAft>
                <a:spcPts val="0"/>
              </a:spcAft>
              <a:buNone/>
            </a:pPr>
            <a:r>
              <a:rPr b="0" i="0" lang="en-US" sz="1600" u="none" cap="none" strike="noStrike">
                <a:solidFill>
                  <a:srgbClr val="000000"/>
                </a:solidFill>
                <a:latin typeface="Calibri"/>
                <a:ea typeface="Calibri"/>
                <a:cs typeface="Calibri"/>
                <a:sym typeface="Calibri"/>
              </a:rPr>
              <a:t>cash </a:t>
            </a:r>
            <a:r>
              <a:rPr b="0" i="0" lang="en-US" sz="1600" u="none" cap="none" strike="noStrike">
                <a:solidFill>
                  <a:srgbClr val="000000"/>
                </a:solidFill>
                <a:highlight>
                  <a:srgbClr val="FFFF00"/>
                </a:highlight>
                <a:latin typeface="Calibri"/>
                <a:ea typeface="Calibri"/>
                <a:cs typeface="Calibri"/>
                <a:sym typeface="Calibri"/>
              </a:rPr>
              <a:t>exceeding</a:t>
            </a:r>
            <a:r>
              <a:rPr b="0" i="0" lang="en-US" sz="1600" u="none" cap="none" strike="noStrike">
                <a:solidFill>
                  <a:srgbClr val="000000"/>
                </a:solidFill>
                <a:latin typeface="Calibri"/>
                <a:ea typeface="Calibri"/>
                <a:cs typeface="Calibri"/>
                <a:sym typeface="Calibri"/>
              </a:rPr>
              <a:t> that which is needed </a:t>
            </a:r>
            <a:r>
              <a:rPr b="0" i="0" lang="en-US" sz="1600" u="none" cap="none" strike="noStrike">
                <a:solidFill>
                  <a:srgbClr val="000000"/>
                </a:solidFill>
                <a:highlight>
                  <a:srgbClr val="FFFF00"/>
                </a:highlight>
                <a:latin typeface="Calibri"/>
                <a:ea typeface="Calibri"/>
                <a:cs typeface="Calibri"/>
                <a:sym typeface="Calibri"/>
              </a:rPr>
              <a:t>to operate, pay creditors, and invest in assets</a:t>
            </a:r>
            <a:endParaRPr sz="1200"/>
          </a:p>
        </p:txBody>
      </p:sp>
      <p:cxnSp>
        <p:nvCxnSpPr>
          <p:cNvPr id="189" name="Google Shape;189;p21"/>
          <p:cNvCxnSpPr/>
          <p:nvPr/>
        </p:nvCxnSpPr>
        <p:spPr>
          <a:xfrm>
            <a:off x="5942650" y="1925425"/>
            <a:ext cx="50700" cy="4074000"/>
          </a:xfrm>
          <a:prstGeom prst="straightConnector1">
            <a:avLst/>
          </a:prstGeom>
          <a:noFill/>
          <a:ln cap="flat" cmpd="sng" w="38100">
            <a:solidFill>
              <a:schemeClr val="dk2"/>
            </a:solidFill>
            <a:prstDash val="dash"/>
            <a:round/>
            <a:headEnd len="med" w="med" type="none"/>
            <a:tailEnd len="med" w="med" type="none"/>
          </a:ln>
        </p:spPr>
      </p:cxnSp>
      <p:sp>
        <p:nvSpPr>
          <p:cNvPr id="190" name="Google Shape;190;p21"/>
          <p:cNvSpPr txBox="1"/>
          <p:nvPr/>
        </p:nvSpPr>
        <p:spPr>
          <a:xfrm>
            <a:off x="8493775" y="1954475"/>
            <a:ext cx="3015600" cy="91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risk</a:t>
            </a:r>
            <a:endParaRPr>
              <a:solidFill>
                <a:schemeClr val="dk1"/>
              </a:solidFill>
            </a:endParaRPr>
          </a:p>
          <a:p>
            <a:pPr indent="0" lvl="0" marL="0" rtl="0" algn="l">
              <a:spcBef>
                <a:spcPts val="0"/>
              </a:spcBef>
              <a:spcAft>
                <a:spcPts val="0"/>
              </a:spcAft>
              <a:buNone/>
            </a:pPr>
            <a:r>
              <a:rPr lang="en-US">
                <a:solidFill>
                  <a:schemeClr val="dk1"/>
                </a:solidFill>
              </a:rPr>
              <a:t>...........................</a:t>
            </a:r>
            <a:endParaRPr>
              <a:solidFill>
                <a:schemeClr val="dk1"/>
              </a:solidFill>
            </a:endParaRPr>
          </a:p>
          <a:p>
            <a:pPr indent="0" lvl="0" marL="0" rtl="0" algn="l">
              <a:spcBef>
                <a:spcPts val="0"/>
              </a:spcBef>
              <a:spcAft>
                <a:spcPts val="0"/>
              </a:spcAft>
              <a:buNone/>
            </a:pPr>
            <a:r>
              <a:rPr lang="en-US">
                <a:solidFill>
                  <a:schemeClr val="dk1"/>
                </a:solidFill>
              </a:rPr>
              <a:t>market, competitive, technology, strategic, </a:t>
            </a:r>
            <a:r>
              <a:rPr lang="en-US">
                <a:solidFill>
                  <a:schemeClr val="dk1"/>
                </a:solidFill>
                <a:highlight>
                  <a:srgbClr val="FFFF00"/>
                </a:highlight>
              </a:rPr>
              <a:t>financial</a:t>
            </a:r>
            <a:endParaRPr>
              <a:highlight>
                <a:srgbClr val="FFFF00"/>
              </a:highlight>
            </a:endParaRPr>
          </a:p>
        </p:txBody>
      </p:sp>
      <p:sp>
        <p:nvSpPr>
          <p:cNvPr id="191" name="Google Shape;191;p21"/>
          <p:cNvSpPr txBox="1"/>
          <p:nvPr/>
        </p:nvSpPr>
        <p:spPr>
          <a:xfrm>
            <a:off x="7787650" y="4336663"/>
            <a:ext cx="1644000" cy="91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profit </a:t>
            </a:r>
            <a:endParaRPr>
              <a:solidFill>
                <a:schemeClr val="dk1"/>
              </a:solidFill>
            </a:endParaRPr>
          </a:p>
          <a:p>
            <a:pPr indent="0" lvl="0" marL="0" rtl="0" algn="l">
              <a:spcBef>
                <a:spcPts val="0"/>
              </a:spcBef>
              <a:spcAft>
                <a:spcPts val="0"/>
              </a:spcAft>
              <a:buNone/>
            </a:pPr>
            <a:r>
              <a:rPr lang="en-US">
                <a:solidFill>
                  <a:schemeClr val="dk1"/>
                </a:solidFill>
              </a:rPr>
              <a:t>...........................</a:t>
            </a:r>
            <a:endParaRPr>
              <a:solidFill>
                <a:schemeClr val="dk1"/>
              </a:solidFill>
            </a:endParaRPr>
          </a:p>
          <a:p>
            <a:pPr indent="0" lvl="0" marL="0" rtl="0" algn="l">
              <a:spcBef>
                <a:spcPts val="0"/>
              </a:spcBef>
              <a:spcAft>
                <a:spcPts val="0"/>
              </a:spcAft>
              <a:buNone/>
            </a:pPr>
            <a:r>
              <a:rPr lang="en-US">
                <a:solidFill>
                  <a:schemeClr val="dk1"/>
                </a:solidFill>
                <a:highlight>
                  <a:srgbClr val="FFFF00"/>
                </a:highlight>
              </a:rPr>
              <a:t>Revenues - Expenses</a:t>
            </a:r>
            <a:r>
              <a:rPr lang="en-US">
                <a:solidFill>
                  <a:schemeClr val="dk1"/>
                </a:solidFill>
              </a:rPr>
              <a:t> </a:t>
            </a:r>
            <a:endParaRPr/>
          </a:p>
        </p:txBody>
      </p:sp>
      <p:sp>
        <p:nvSpPr>
          <p:cNvPr id="192" name="Google Shape;192;p21"/>
          <p:cNvSpPr txBox="1"/>
          <p:nvPr/>
        </p:nvSpPr>
        <p:spPr>
          <a:xfrm>
            <a:off x="9660250" y="4383375"/>
            <a:ext cx="2581800" cy="13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Exit Strategy</a:t>
            </a:r>
            <a:endParaRPr>
              <a:solidFill>
                <a:schemeClr val="dk1"/>
              </a:solidFill>
            </a:endParaRPr>
          </a:p>
          <a:p>
            <a:pPr indent="0" lvl="0" marL="0" rtl="0" algn="l">
              <a:spcBef>
                <a:spcPts val="0"/>
              </a:spcBef>
              <a:spcAft>
                <a:spcPts val="0"/>
              </a:spcAft>
              <a:buNone/>
            </a:pPr>
            <a:r>
              <a:rPr lang="en-US">
                <a:solidFill>
                  <a:schemeClr val="dk1"/>
                </a:solidFill>
              </a:rPr>
              <a:t>...........................</a:t>
            </a:r>
            <a:endParaRPr>
              <a:solidFill>
                <a:schemeClr val="dk1"/>
              </a:solidFill>
            </a:endParaRPr>
          </a:p>
          <a:p>
            <a:pPr indent="0" lvl="0" marL="0" rtl="0" algn="l">
              <a:spcBef>
                <a:spcPts val="0"/>
              </a:spcBef>
              <a:spcAft>
                <a:spcPts val="0"/>
              </a:spcAft>
              <a:buNone/>
            </a:pPr>
            <a:r>
              <a:rPr lang="en-US" sz="1200">
                <a:solidFill>
                  <a:srgbClr val="222222"/>
                </a:solidFill>
                <a:highlight>
                  <a:srgbClr val="FFFFFF"/>
                </a:highlight>
                <a:latin typeface="Roboto"/>
                <a:ea typeface="Roboto"/>
                <a:cs typeface="Roboto"/>
                <a:sym typeface="Roboto"/>
              </a:rPr>
              <a:t>An </a:t>
            </a:r>
            <a:r>
              <a:rPr b="1" lang="en-US" sz="1200">
                <a:solidFill>
                  <a:srgbClr val="222222"/>
                </a:solidFill>
                <a:highlight>
                  <a:srgbClr val="FFFF00"/>
                </a:highlight>
                <a:latin typeface="Roboto"/>
                <a:ea typeface="Roboto"/>
                <a:cs typeface="Roboto"/>
                <a:sym typeface="Roboto"/>
              </a:rPr>
              <a:t>exit strategy</a:t>
            </a:r>
            <a:r>
              <a:rPr lang="en-US" sz="1200">
                <a:solidFill>
                  <a:srgbClr val="222222"/>
                </a:solidFill>
                <a:highlight>
                  <a:srgbClr val="FFFFFF"/>
                </a:highlight>
                <a:latin typeface="Roboto"/>
                <a:ea typeface="Roboto"/>
                <a:cs typeface="Roboto"/>
                <a:sym typeface="Roboto"/>
              </a:rPr>
              <a:t> is a contingency </a:t>
            </a:r>
            <a:r>
              <a:rPr b="1" lang="en-US" sz="1200">
                <a:solidFill>
                  <a:srgbClr val="222222"/>
                </a:solidFill>
                <a:highlight>
                  <a:srgbClr val="FFFFFF"/>
                </a:highlight>
                <a:latin typeface="Roboto"/>
                <a:ea typeface="Roboto"/>
                <a:cs typeface="Roboto"/>
                <a:sym typeface="Roboto"/>
              </a:rPr>
              <a:t>plan</a:t>
            </a:r>
            <a:r>
              <a:rPr lang="en-US" sz="1200">
                <a:solidFill>
                  <a:srgbClr val="222222"/>
                </a:solidFill>
                <a:highlight>
                  <a:srgbClr val="FFFFFF"/>
                </a:highlight>
                <a:latin typeface="Roboto"/>
                <a:ea typeface="Roboto"/>
                <a:cs typeface="Roboto"/>
                <a:sym typeface="Roboto"/>
              </a:rPr>
              <a:t> that is executed by a business owner to liquidate a position in a </a:t>
            </a:r>
            <a:r>
              <a:rPr b="1" lang="en-US" sz="1200">
                <a:solidFill>
                  <a:srgbClr val="222222"/>
                </a:solidFill>
                <a:highlight>
                  <a:srgbClr val="FFFFFF"/>
                </a:highlight>
                <a:latin typeface="Roboto"/>
                <a:ea typeface="Roboto"/>
                <a:cs typeface="Roboto"/>
                <a:sym typeface="Roboto"/>
              </a:rPr>
              <a:t>financial</a:t>
            </a:r>
            <a:r>
              <a:rPr lang="en-US" sz="1200">
                <a:solidFill>
                  <a:srgbClr val="222222"/>
                </a:solidFill>
                <a:highlight>
                  <a:srgbClr val="FFFFFF"/>
                </a:highlight>
                <a:latin typeface="Roboto"/>
                <a:ea typeface="Roboto"/>
                <a:cs typeface="Roboto"/>
                <a:sym typeface="Roboto"/>
              </a:rPr>
              <a:t> asset or dispose of tangible business assets once predetermined criteria for either has been met or exceeded</a:t>
            </a:r>
            <a:endParaRPr/>
          </a:p>
        </p:txBody>
      </p:sp>
      <p:sp>
        <p:nvSpPr>
          <p:cNvPr id="193" name="Google Shape;193;p21"/>
          <p:cNvSpPr txBox="1"/>
          <p:nvPr/>
        </p:nvSpPr>
        <p:spPr>
          <a:xfrm>
            <a:off x="8646150" y="2893050"/>
            <a:ext cx="3214800" cy="91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chemeClr val="dk1"/>
                </a:solidFill>
              </a:rPr>
              <a:t>burn rate</a:t>
            </a:r>
            <a:endParaRPr>
              <a:solidFill>
                <a:schemeClr val="dk1"/>
              </a:solidFill>
            </a:endParaRPr>
          </a:p>
          <a:p>
            <a:pPr indent="0" lvl="0" marL="0" rtl="0" algn="l">
              <a:spcBef>
                <a:spcPts val="0"/>
              </a:spcBef>
              <a:spcAft>
                <a:spcPts val="0"/>
              </a:spcAft>
              <a:buNone/>
            </a:pPr>
            <a:r>
              <a:rPr lang="en-US">
                <a:solidFill>
                  <a:schemeClr val="dk1"/>
                </a:solidFill>
              </a:rPr>
              <a:t>...........................</a:t>
            </a:r>
            <a:endParaRPr>
              <a:solidFill>
                <a:schemeClr val="dk1"/>
              </a:solidFill>
            </a:endParaRPr>
          </a:p>
          <a:p>
            <a:pPr indent="0" lvl="0" marL="0" rtl="0" algn="l">
              <a:spcBef>
                <a:spcPts val="0"/>
              </a:spcBef>
              <a:spcAft>
                <a:spcPts val="0"/>
              </a:spcAft>
              <a:buNone/>
            </a:pPr>
            <a:r>
              <a:rPr lang="en-US" sz="1300">
                <a:solidFill>
                  <a:srgbClr val="111111"/>
                </a:solidFill>
                <a:highlight>
                  <a:srgbClr val="FFFFFF"/>
                </a:highlight>
              </a:rPr>
              <a:t>rate at which a new company is </a:t>
            </a:r>
            <a:r>
              <a:rPr lang="en-US" sz="1300">
                <a:solidFill>
                  <a:srgbClr val="111111"/>
                </a:solidFill>
                <a:highlight>
                  <a:srgbClr val="FFFF00"/>
                </a:highlight>
              </a:rPr>
              <a:t>spending</a:t>
            </a:r>
            <a:r>
              <a:rPr lang="en-US" sz="1300">
                <a:solidFill>
                  <a:srgbClr val="111111"/>
                </a:solidFill>
                <a:highlight>
                  <a:srgbClr val="FFFFFF"/>
                </a:highlight>
              </a:rPr>
              <a:t> its venture capital to finance overhead before generating positive cash flow from operations. It is a measure of negative cash flow.</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2"/>
          <p:cNvSpPr txBox="1"/>
          <p:nvPr>
            <p:ph type="title"/>
          </p:nvPr>
        </p:nvSpPr>
        <p:spPr>
          <a:xfrm>
            <a:off x="1097280" y="286603"/>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Calibri"/>
              <a:buNone/>
            </a:pPr>
            <a:r>
              <a:rPr lang="en-US"/>
              <a:t>A1. 4 Types of Entrepreneurial Ventures</a:t>
            </a:r>
            <a:endParaRPr sz="1400"/>
          </a:p>
        </p:txBody>
      </p:sp>
      <p:sp>
        <p:nvSpPr>
          <p:cNvPr id="199" name="Google Shape;199;p22"/>
          <p:cNvSpPr/>
          <p:nvPr/>
        </p:nvSpPr>
        <p:spPr>
          <a:xfrm>
            <a:off x="1135709" y="1896427"/>
            <a:ext cx="10058399" cy="41857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lifestyle firms or Salary-replacement firms (small business entrepreneurship)</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Offers owners the ability to pursue specific lifestyles while being paid for doing what they like to do or as a salary-replacement living strategy.</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Scalable entrepreneurial ventures</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Entrepreneurial firms that are cash flow–and performance-oriented as reflected in rapid value creation over time (rapid growth)</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Social Entrepreneurship</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Firms that pursues not only profit but also measures its performance on the positive impact the business makes on society – whether social, cultural or environmental</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Intrapreneurship</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an employee of a large corporation who is given freedom and financial support to create new products, services, systems, etc., and does not have to follow the corporation's usual routines or protocols.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Effect filter="fade" transition="in">
                                      <p:cBhvr>
                                        <p:cTn dur="1000"/>
                                        <p:tgtEl>
                                          <p:spTgt spid="1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animEffect filter="fade" transition="in">
                                      <p:cBhvr>
                                        <p:cTn dur="1000"/>
                                        <p:tgtEl>
                                          <p:spTgt spid="1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2" st="2"/>
                                            </p:txEl>
                                          </p:spTgt>
                                        </p:tgtEl>
                                        <p:attrNameLst>
                                          <p:attrName>style.visibility</p:attrName>
                                        </p:attrNameLst>
                                      </p:cBhvr>
                                      <p:to>
                                        <p:strVal val="visible"/>
                                      </p:to>
                                    </p:set>
                                    <p:animEffect filter="fade" transition="in">
                                      <p:cBhvr>
                                        <p:cTn dur="1000"/>
                                        <p:tgtEl>
                                          <p:spTgt spid="1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3" st="3"/>
                                            </p:txEl>
                                          </p:spTgt>
                                        </p:tgtEl>
                                        <p:attrNameLst>
                                          <p:attrName>style.visibility</p:attrName>
                                        </p:attrNameLst>
                                      </p:cBhvr>
                                      <p:to>
                                        <p:strVal val="visible"/>
                                      </p:to>
                                    </p:set>
                                    <p:animEffect filter="fade" transition="in">
                                      <p:cBhvr>
                                        <p:cTn dur="1000"/>
                                        <p:tgtEl>
                                          <p:spTgt spid="1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4" st="4"/>
                                            </p:txEl>
                                          </p:spTgt>
                                        </p:tgtEl>
                                        <p:attrNameLst>
                                          <p:attrName>style.visibility</p:attrName>
                                        </p:attrNameLst>
                                      </p:cBhvr>
                                      <p:to>
                                        <p:strVal val="visible"/>
                                      </p:to>
                                    </p:set>
                                    <p:animEffect filter="fade" transition="in">
                                      <p:cBhvr>
                                        <p:cTn dur="1000"/>
                                        <p:tgtEl>
                                          <p:spTgt spid="1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5" st="5"/>
                                            </p:txEl>
                                          </p:spTgt>
                                        </p:tgtEl>
                                        <p:attrNameLst>
                                          <p:attrName>style.visibility</p:attrName>
                                        </p:attrNameLst>
                                      </p:cBhvr>
                                      <p:to>
                                        <p:strVal val="visible"/>
                                      </p:to>
                                    </p:set>
                                    <p:animEffect filter="fade" transition="in">
                                      <p:cBhvr>
                                        <p:cTn dur="1000"/>
                                        <p:tgtEl>
                                          <p:spTgt spid="1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6" st="6"/>
                                            </p:txEl>
                                          </p:spTgt>
                                        </p:tgtEl>
                                        <p:attrNameLst>
                                          <p:attrName>style.visibility</p:attrName>
                                        </p:attrNameLst>
                                      </p:cBhvr>
                                      <p:to>
                                        <p:strVal val="visible"/>
                                      </p:to>
                                    </p:set>
                                    <p:animEffect filter="fade" transition="in">
                                      <p:cBhvr>
                                        <p:cTn dur="1000"/>
                                        <p:tgtEl>
                                          <p:spTgt spid="1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7" st="7"/>
                                            </p:txEl>
                                          </p:spTgt>
                                        </p:tgtEl>
                                        <p:attrNameLst>
                                          <p:attrName>style.visibility</p:attrName>
                                        </p:attrNameLst>
                                      </p:cBhvr>
                                      <p:to>
                                        <p:strVal val="visible"/>
                                      </p:to>
                                    </p:set>
                                    <p:animEffect filter="fade" transition="in">
                                      <p:cBhvr>
                                        <p:cTn dur="1000"/>
                                        <p:tgtEl>
                                          <p:spTgt spid="1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8" st="8"/>
                                            </p:txEl>
                                          </p:spTgt>
                                        </p:tgtEl>
                                        <p:attrNameLst>
                                          <p:attrName>style.visibility</p:attrName>
                                        </p:attrNameLst>
                                      </p:cBhvr>
                                      <p:to>
                                        <p:strVal val="visible"/>
                                      </p:to>
                                    </p:set>
                                    <p:animEffect filter="fade" transition="in">
                                      <p:cBhvr>
                                        <p:cTn dur="1000"/>
                                        <p:tgtEl>
                                          <p:spTgt spid="1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9" st="9"/>
                                            </p:txEl>
                                          </p:spTgt>
                                        </p:tgtEl>
                                        <p:attrNameLst>
                                          <p:attrName>style.visibility</p:attrName>
                                        </p:attrNameLst>
                                      </p:cBhvr>
                                      <p:to>
                                        <p:strVal val="visible"/>
                                      </p:to>
                                    </p:set>
                                    <p:animEffect filter="fade" transition="in">
                                      <p:cBhvr>
                                        <p:cTn dur="1000"/>
                                        <p:tgtEl>
                                          <p:spTgt spid="19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10" st="10"/>
                                            </p:txEl>
                                          </p:spTgt>
                                        </p:tgtEl>
                                        <p:attrNameLst>
                                          <p:attrName>style.visibility</p:attrName>
                                        </p:attrNameLst>
                                      </p:cBhvr>
                                      <p:to>
                                        <p:strVal val="visible"/>
                                      </p:to>
                                    </p:set>
                                    <p:animEffect filter="fade" transition="in">
                                      <p:cBhvr>
                                        <p:cTn dur="1000"/>
                                        <p:tgtEl>
                                          <p:spTgt spid="19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11" st="11"/>
                                            </p:txEl>
                                          </p:spTgt>
                                        </p:tgtEl>
                                        <p:attrNameLst>
                                          <p:attrName>style.visibility</p:attrName>
                                        </p:attrNameLst>
                                      </p:cBhvr>
                                      <p:to>
                                        <p:strVal val="visible"/>
                                      </p:to>
                                    </p:set>
                                    <p:animEffect filter="fade" transition="in">
                                      <p:cBhvr>
                                        <p:cTn dur="1000"/>
                                        <p:tgtEl>
                                          <p:spTgt spid="19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12" st="12"/>
                                            </p:txEl>
                                          </p:spTgt>
                                        </p:tgtEl>
                                        <p:attrNameLst>
                                          <p:attrName>style.visibility</p:attrName>
                                        </p:attrNameLst>
                                      </p:cBhvr>
                                      <p:to>
                                        <p:strVal val="visible"/>
                                      </p:to>
                                    </p:set>
                                    <p:animEffect filter="fade" transition="in">
                                      <p:cBhvr>
                                        <p:cTn dur="1000"/>
                                        <p:tgtEl>
                                          <p:spTgt spid="19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13" st="13"/>
                                            </p:txEl>
                                          </p:spTgt>
                                        </p:tgtEl>
                                        <p:attrNameLst>
                                          <p:attrName>style.visibility</p:attrName>
                                        </p:attrNameLst>
                                      </p:cBhvr>
                                      <p:to>
                                        <p:strVal val="visible"/>
                                      </p:to>
                                    </p:set>
                                    <p:animEffect filter="fade" transition="in">
                                      <p:cBhvr>
                                        <p:cTn dur="1000"/>
                                        <p:tgtEl>
                                          <p:spTgt spid="19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14" st="14"/>
                                            </p:txEl>
                                          </p:spTgt>
                                        </p:tgtEl>
                                        <p:attrNameLst>
                                          <p:attrName>style.visibility</p:attrName>
                                        </p:attrNameLst>
                                      </p:cBhvr>
                                      <p:to>
                                        <p:strVal val="visible"/>
                                      </p:to>
                                    </p:set>
                                    <p:animEffect filter="fade" transition="in">
                                      <p:cBhvr>
                                        <p:cTn dur="1000"/>
                                        <p:tgtEl>
                                          <p:spTgt spid="199">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3"/>
          <p:cNvSpPr txBox="1"/>
          <p:nvPr>
            <p:ph type="title"/>
          </p:nvPr>
        </p:nvSpPr>
        <p:spPr>
          <a:xfrm>
            <a:off x="1097279" y="286603"/>
            <a:ext cx="10532745" cy="14508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rgbClr val="3F3F3F"/>
              </a:buClr>
              <a:buSzPts val="4800"/>
              <a:buFont typeface="Calibri"/>
              <a:buNone/>
            </a:pPr>
            <a:r>
              <a:rPr lang="en-US" sz="4000"/>
              <a:t>B. Life-Cycle Stages of Bus/Entrep. Ventures</a:t>
            </a:r>
            <a:endParaRPr sz="1400"/>
          </a:p>
        </p:txBody>
      </p:sp>
      <p:sp>
        <p:nvSpPr>
          <p:cNvPr id="205" name="Google Shape;205;p23"/>
          <p:cNvSpPr/>
          <p:nvPr/>
        </p:nvSpPr>
        <p:spPr>
          <a:xfrm>
            <a:off x="1097280" y="2101197"/>
            <a:ext cx="2560320" cy="3416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venture life cycle</a:t>
            </a:r>
            <a:endParaRPr/>
          </a:p>
          <a:p>
            <a:pPr indent="0" lvl="0" marL="0" marR="0" rtl="0" algn="l">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stages of a successful venture’s life </a:t>
            </a:r>
            <a:r>
              <a:rPr b="0" i="0" lang="en-US" sz="2400" u="none" cap="none" strike="noStrike">
                <a:solidFill>
                  <a:srgbClr val="000000"/>
                </a:solidFill>
                <a:highlight>
                  <a:srgbClr val="FFFF00"/>
                </a:highlight>
                <a:latin typeface="Calibri"/>
                <a:ea typeface="Calibri"/>
                <a:cs typeface="Calibri"/>
                <a:sym typeface="Calibri"/>
              </a:rPr>
              <a:t>from development through various stages of revenue growth</a:t>
            </a:r>
            <a:endParaRPr/>
          </a:p>
        </p:txBody>
      </p:sp>
      <p:sp>
        <p:nvSpPr>
          <p:cNvPr id="206" name="Google Shape;206;p23"/>
          <p:cNvSpPr/>
          <p:nvPr/>
        </p:nvSpPr>
        <p:spPr>
          <a:xfrm>
            <a:off x="3793011" y="2105104"/>
            <a:ext cx="2560320" cy="26776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Early-stage ventures</a:t>
            </a:r>
            <a:endParaRPr/>
          </a:p>
          <a:p>
            <a:pPr indent="0" lvl="0" marL="0" marR="0" rtl="0" algn="l">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new or very young firms </a:t>
            </a:r>
            <a:r>
              <a:rPr b="0" i="0" lang="en-US" sz="2400" u="none" cap="none" strike="noStrike">
                <a:solidFill>
                  <a:srgbClr val="000000"/>
                </a:solidFill>
                <a:highlight>
                  <a:srgbClr val="FFFF00"/>
                </a:highlight>
                <a:latin typeface="Calibri"/>
                <a:ea typeface="Calibri"/>
                <a:cs typeface="Calibri"/>
                <a:sym typeface="Calibri"/>
              </a:rPr>
              <a:t>with little or no operating history</a:t>
            </a:r>
            <a:endParaRPr/>
          </a:p>
        </p:txBody>
      </p:sp>
      <p:sp>
        <p:nvSpPr>
          <p:cNvPr id="207" name="Google Shape;207;p23"/>
          <p:cNvSpPr/>
          <p:nvPr/>
        </p:nvSpPr>
        <p:spPr>
          <a:xfrm>
            <a:off x="6488741" y="2105104"/>
            <a:ext cx="3145965" cy="267765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seasoned firms</a:t>
            </a:r>
            <a:endParaRPr/>
          </a:p>
          <a:p>
            <a:pPr indent="0" lvl="0" marL="0" marR="0" rtl="0" algn="l">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a:t>
            </a:r>
            <a:endParaRPr/>
          </a:p>
          <a:p>
            <a:pPr indent="0" lvl="0" marL="0" marR="0" rtl="0" algn="l">
              <a:lnSpc>
                <a:spcPct val="100000"/>
              </a:lnSpc>
              <a:spcBef>
                <a:spcPts val="0"/>
              </a:spcBef>
              <a:spcAft>
                <a:spcPts val="0"/>
              </a:spcAft>
              <a:buNone/>
            </a:pPr>
            <a:r>
              <a:rPr b="0" i="0" lang="en-US" sz="2400" u="none" cap="none" strike="noStrike">
                <a:solidFill>
                  <a:srgbClr val="000000"/>
                </a:solidFill>
                <a:latin typeface="Calibri"/>
                <a:ea typeface="Calibri"/>
                <a:cs typeface="Calibri"/>
                <a:sym typeface="Calibri"/>
              </a:rPr>
              <a:t>firms </a:t>
            </a:r>
            <a:r>
              <a:rPr b="0" i="0" lang="en-US" sz="2400" u="none" cap="none" strike="noStrike">
                <a:solidFill>
                  <a:srgbClr val="000000"/>
                </a:solidFill>
                <a:highlight>
                  <a:srgbClr val="FFFF00"/>
                </a:highlight>
                <a:latin typeface="Calibri"/>
                <a:ea typeface="Calibri"/>
                <a:cs typeface="Calibri"/>
                <a:sym typeface="Calibri"/>
              </a:rPr>
              <a:t>with successful operating histories </a:t>
            </a:r>
            <a:r>
              <a:rPr b="0" i="0" lang="en-US" sz="2400" u="none" cap="none" strike="noStrike">
                <a:solidFill>
                  <a:srgbClr val="000000"/>
                </a:solidFill>
                <a:latin typeface="Calibri"/>
                <a:ea typeface="Calibri"/>
                <a:cs typeface="Calibri"/>
                <a:sym typeface="Calibri"/>
              </a:rPr>
              <a:t>and operating in their rapid-growth or maturity life cycle stages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par>
                                <p:cTn fill="hold" nodeType="with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1000"/>
                                        <p:tgtEl>
                                          <p:spTgt spid="2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txBox="1"/>
          <p:nvPr>
            <p:ph type="title"/>
          </p:nvPr>
        </p:nvSpPr>
        <p:spPr>
          <a:xfrm>
            <a:off x="1097280" y="682843"/>
            <a:ext cx="10058400" cy="85131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Calibri"/>
              <a:buNone/>
            </a:pPr>
            <a:r>
              <a:rPr lang="en-US" sz="4000"/>
              <a:t>B</a:t>
            </a:r>
            <a:r>
              <a:rPr lang="en-US" sz="4000"/>
              <a:t>. Life-Cycle Stages of Bus/Entrep. Ventures</a:t>
            </a:r>
            <a:endParaRPr sz="1100"/>
          </a:p>
        </p:txBody>
      </p:sp>
      <p:pic>
        <p:nvPicPr>
          <p:cNvPr descr="Figure 1.3 Life Cycle Stages of the Successful Venture &#10;Revenues &#10;in Dollars &#10;-1.5 &#10;-.5 &#10;Development &#10;Stage &#10;Startup &#10;Stage &#10;+1.5 &#10;Survival &#10;Stage &#10;+3.0 &#10;Years &#10;Rapid-Growth &#10;Stage &#10;+4.5 +5.0 &#10;Early-Maturity &#10;Stage " id="213" name="Google Shape;213;p24"/>
          <p:cNvPicPr preferRelativeResize="0"/>
          <p:nvPr/>
        </p:nvPicPr>
        <p:blipFill rotWithShape="1">
          <a:blip r:embed="rId3">
            <a:alphaModFix/>
          </a:blip>
          <a:srcRect b="0" l="0" r="0" t="0"/>
          <a:stretch/>
        </p:blipFill>
        <p:spPr>
          <a:xfrm>
            <a:off x="1097275" y="1752700"/>
            <a:ext cx="7051050" cy="4404050"/>
          </a:xfrm>
          <a:prstGeom prst="rect">
            <a:avLst/>
          </a:prstGeom>
          <a:noFill/>
          <a:ln>
            <a:noFill/>
          </a:ln>
        </p:spPr>
      </p:pic>
      <p:sp>
        <p:nvSpPr>
          <p:cNvPr id="214" name="Google Shape;214;p24"/>
          <p:cNvSpPr txBox="1"/>
          <p:nvPr/>
        </p:nvSpPr>
        <p:spPr>
          <a:xfrm>
            <a:off x="1486400" y="5899050"/>
            <a:ext cx="6362100" cy="4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00"/>
                </a:solidFill>
                <a:latin typeface="Calibri"/>
                <a:ea typeface="Calibri"/>
                <a:cs typeface="Calibri"/>
                <a:sym typeface="Calibri"/>
              </a:rPr>
              <a:t>Source: Leach &amp; Melicher (2018). Entrepreneurial Finance, 6e, Cengage Learning</a:t>
            </a:r>
            <a:endParaRPr>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5"/>
          <p:cNvSpPr txBox="1"/>
          <p:nvPr>
            <p:ph type="title"/>
          </p:nvPr>
        </p:nvSpPr>
        <p:spPr>
          <a:xfrm>
            <a:off x="1097280" y="682843"/>
            <a:ext cx="11094720" cy="85131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Calibri"/>
              <a:buNone/>
            </a:pPr>
            <a:r>
              <a:rPr lang="en-US" sz="4000"/>
              <a:t>B</a:t>
            </a:r>
            <a:r>
              <a:rPr lang="en-US" sz="4000"/>
              <a:t>. Life-Cycle Stages of Bus/Entrep. Ventures (Cont.)</a:t>
            </a:r>
            <a:endParaRPr sz="1100"/>
          </a:p>
        </p:txBody>
      </p:sp>
      <p:pic>
        <p:nvPicPr>
          <p:cNvPr descr="Figure 5.1 Measures of Operating and Financial Performance by Life Cycle Stage and User &#10;LIFE CYCLE STAGE &#10;Development and startup stages &#10;Survival stage &#10;Rapid-growth stage &#10;TYPE OF FINANCING &#10;Seed financing and startup &#10;financing &#10;First-round financing &#10;Second-round, mezzanine, &#10;and liquidity-stage financing &#10;FINANCIAL RATIOS AND &#10;MEASURES &#10;Cash burn rates and liquidity &#10;ratios &#10;Conversion period ratios &#10;Cash burn, liquidity, and &#10;conversion ratios &#10;Leverage ratios &#10;Profitability and efficiency ratios &#10;Leverage ratios &#10;Profitability and efficiency ratios &#10;USERS OF FINANCIAL &#10;RATIOS AND MEASURES &#10;Entrepreneur, Business angels &#10;Venture capitalists (VCs) &#10;Entrepreneur, angels, and VCs &#10;Commercial banks &#10;Entrepreneur, angels, and VCs &#10;Commercial banks &#10;Investment bankers " id="220" name="Google Shape;220;p25"/>
          <p:cNvPicPr preferRelativeResize="0"/>
          <p:nvPr/>
        </p:nvPicPr>
        <p:blipFill rotWithShape="1">
          <a:blip r:embed="rId3">
            <a:alphaModFix/>
          </a:blip>
          <a:srcRect b="0" l="0" r="0" t="0"/>
          <a:stretch/>
        </p:blipFill>
        <p:spPr>
          <a:xfrm>
            <a:off x="719527" y="1767522"/>
            <a:ext cx="9764093" cy="4529878"/>
          </a:xfrm>
          <a:prstGeom prst="rect">
            <a:avLst/>
          </a:prstGeom>
          <a:noFill/>
          <a:ln>
            <a:noFill/>
          </a:ln>
        </p:spPr>
      </p:pic>
      <p:sp>
        <p:nvSpPr>
          <p:cNvPr id="221" name="Google Shape;221;p25"/>
          <p:cNvSpPr txBox="1"/>
          <p:nvPr/>
        </p:nvSpPr>
        <p:spPr>
          <a:xfrm>
            <a:off x="1044450" y="5840800"/>
            <a:ext cx="6362100" cy="4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000000"/>
                </a:solidFill>
                <a:latin typeface="Calibri"/>
                <a:ea typeface="Calibri"/>
                <a:cs typeface="Calibri"/>
                <a:sym typeface="Calibri"/>
              </a:rPr>
              <a:t>Source: Leach &amp; Melicher (2018). Entrepreneurial Finance, 6e, Cengage Learning</a:t>
            </a:r>
            <a:endParaRPr>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pic>
        <p:nvPicPr>
          <p:cNvPr descr="logo-id" id="227" name="Google Shape;227;p26">
            <a:hlinkClick r:id="rId3"/>
          </p:cNvPr>
          <p:cNvPicPr preferRelativeResize="0"/>
          <p:nvPr/>
        </p:nvPicPr>
        <p:blipFill>
          <a:blip r:embed="rId4">
            <a:alphaModFix/>
          </a:blip>
          <a:stretch>
            <a:fillRect/>
          </a:stretch>
        </p:blipFill>
        <p:spPr>
          <a:xfrm>
            <a:off x="5512999" y="602187"/>
            <a:ext cx="1166001" cy="510125"/>
          </a:xfrm>
          <a:prstGeom prst="rect">
            <a:avLst/>
          </a:prstGeom>
          <a:noFill/>
          <a:ln>
            <a:noFill/>
          </a:ln>
        </p:spPr>
      </p:pic>
      <p:sp>
        <p:nvSpPr>
          <p:cNvPr descr="footer-id" id="228" name="Google Shape;228;p26"/>
          <p:cNvSpPr txBox="1"/>
          <p:nvPr/>
        </p:nvSpPr>
        <p:spPr>
          <a:xfrm>
            <a:off x="0" y="5143500"/>
            <a:ext cx="12192000" cy="17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39AC37"/>
                </a:solidFill>
                <a:latin typeface="Calibri"/>
                <a:ea typeface="Calibri"/>
                <a:cs typeface="Calibri"/>
                <a:sym typeface="Calibri"/>
              </a:rPr>
              <a:t>ⓘ</a:t>
            </a:r>
            <a:r>
              <a:rPr lang="en-US">
                <a:latin typeface="Calibri"/>
                <a:ea typeface="Calibri"/>
                <a:cs typeface="Calibri"/>
                <a:sym typeface="Calibri"/>
              </a:rPr>
              <a:t> Start presenting to display the poll results on this slide.</a:t>
            </a:r>
            <a:endParaRPr>
              <a:latin typeface="Calibri"/>
              <a:ea typeface="Calibri"/>
              <a:cs typeface="Calibri"/>
              <a:sym typeface="Calibri"/>
            </a:endParaRPr>
          </a:p>
        </p:txBody>
      </p:sp>
      <p:sp>
        <p:nvSpPr>
          <p:cNvPr descr="title-id" id="229" name="Google Shape;229;p26"/>
          <p:cNvSpPr txBox="1"/>
          <p:nvPr/>
        </p:nvSpPr>
        <p:spPr>
          <a:xfrm>
            <a:off x="0" y="1714500"/>
            <a:ext cx="12192000" cy="34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solidFill>
                  <a:srgbClr val="424242"/>
                </a:solidFill>
                <a:latin typeface="Lato"/>
                <a:ea typeface="Lato"/>
                <a:cs typeface="Lato"/>
                <a:sym typeface="Lato"/>
              </a:rPr>
              <a:t>Type: F-Financial or M-Managerial or 0-None</a:t>
            </a:r>
            <a:endParaRPr sz="3600">
              <a:solidFill>
                <a:srgbClr val="424242"/>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27"/>
          <p:cNvPicPr preferRelativeResize="0"/>
          <p:nvPr/>
        </p:nvPicPr>
        <p:blipFill>
          <a:blip r:embed="rId3">
            <a:alphaModFix/>
          </a:blip>
          <a:stretch>
            <a:fillRect/>
          </a:stretch>
        </p:blipFill>
        <p:spPr>
          <a:xfrm>
            <a:off x="7352050" y="4630450"/>
            <a:ext cx="1313400" cy="1450800"/>
          </a:xfrm>
          <a:prstGeom prst="rect">
            <a:avLst/>
          </a:prstGeom>
          <a:noFill/>
          <a:ln>
            <a:noFill/>
          </a:ln>
        </p:spPr>
      </p:pic>
      <p:pic>
        <p:nvPicPr>
          <p:cNvPr id="235" name="Google Shape;235;p27"/>
          <p:cNvPicPr preferRelativeResize="0"/>
          <p:nvPr/>
        </p:nvPicPr>
        <p:blipFill>
          <a:blip r:embed="rId4">
            <a:alphaModFix/>
          </a:blip>
          <a:stretch>
            <a:fillRect/>
          </a:stretch>
        </p:blipFill>
        <p:spPr>
          <a:xfrm>
            <a:off x="2303700" y="4474969"/>
            <a:ext cx="1648221" cy="1761750"/>
          </a:xfrm>
          <a:prstGeom prst="rect">
            <a:avLst/>
          </a:prstGeom>
          <a:noFill/>
          <a:ln>
            <a:noFill/>
          </a:ln>
        </p:spPr>
      </p:pic>
      <p:pic>
        <p:nvPicPr>
          <p:cNvPr id="236" name="Google Shape;236;p27"/>
          <p:cNvPicPr preferRelativeResize="0"/>
          <p:nvPr/>
        </p:nvPicPr>
        <p:blipFill>
          <a:blip r:embed="rId5">
            <a:alphaModFix/>
          </a:blip>
          <a:stretch>
            <a:fillRect/>
          </a:stretch>
        </p:blipFill>
        <p:spPr>
          <a:xfrm>
            <a:off x="6355475" y="1317100"/>
            <a:ext cx="1538800" cy="1761751"/>
          </a:xfrm>
          <a:prstGeom prst="rect">
            <a:avLst/>
          </a:prstGeom>
          <a:noFill/>
          <a:ln>
            <a:noFill/>
          </a:ln>
        </p:spPr>
      </p:pic>
      <p:pic>
        <p:nvPicPr>
          <p:cNvPr id="237" name="Google Shape;237;p27"/>
          <p:cNvPicPr preferRelativeResize="0"/>
          <p:nvPr/>
        </p:nvPicPr>
        <p:blipFill>
          <a:blip r:embed="rId6">
            <a:alphaModFix/>
          </a:blip>
          <a:stretch>
            <a:fillRect/>
          </a:stretch>
        </p:blipFill>
        <p:spPr>
          <a:xfrm>
            <a:off x="2245600" y="1457500"/>
            <a:ext cx="2392575" cy="1621350"/>
          </a:xfrm>
          <a:prstGeom prst="rect">
            <a:avLst/>
          </a:prstGeom>
          <a:noFill/>
          <a:ln>
            <a:noFill/>
          </a:ln>
        </p:spPr>
      </p:pic>
      <p:sp>
        <p:nvSpPr>
          <p:cNvPr id="238" name="Google Shape;238;p27"/>
          <p:cNvSpPr txBox="1"/>
          <p:nvPr>
            <p:ph type="title"/>
          </p:nvPr>
        </p:nvSpPr>
        <p:spPr>
          <a:xfrm>
            <a:off x="1097280" y="-43179"/>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1800"/>
              <a:buNone/>
            </a:pPr>
            <a:r>
              <a:rPr lang="en-US" sz="4000"/>
              <a:t>Flows and Levels</a:t>
            </a:r>
            <a:endParaRPr sz="3600"/>
          </a:p>
        </p:txBody>
      </p:sp>
      <p:sp>
        <p:nvSpPr>
          <p:cNvPr id="239" name="Google Shape;239;p27"/>
          <p:cNvSpPr/>
          <p:nvPr/>
        </p:nvSpPr>
        <p:spPr>
          <a:xfrm>
            <a:off x="3560975" y="3078850"/>
            <a:ext cx="4014900" cy="31581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7"/>
          <p:cNvSpPr/>
          <p:nvPr/>
        </p:nvSpPr>
        <p:spPr>
          <a:xfrm>
            <a:off x="3609925" y="4596725"/>
            <a:ext cx="4002800" cy="198750"/>
          </a:xfrm>
          <a:custGeom>
            <a:rect b="b" l="l" r="r" t="t"/>
            <a:pathLst>
              <a:path extrusionOk="0" h="7950" w="160112">
                <a:moveTo>
                  <a:pt x="0" y="1959"/>
                </a:moveTo>
                <a:cubicBezTo>
                  <a:pt x="1814" y="4678"/>
                  <a:pt x="6693" y="1415"/>
                  <a:pt x="9793" y="2449"/>
                </a:cubicBezTo>
                <a:cubicBezTo>
                  <a:pt x="12714" y="3423"/>
                  <a:pt x="14548" y="7345"/>
                  <a:pt x="17627" y="7345"/>
                </a:cubicBezTo>
                <a:cubicBezTo>
                  <a:pt x="20053" y="7345"/>
                  <a:pt x="20587" y="2449"/>
                  <a:pt x="23013" y="2449"/>
                </a:cubicBezTo>
                <a:cubicBezTo>
                  <a:pt x="25389" y="2449"/>
                  <a:pt x="27891" y="5725"/>
                  <a:pt x="29868" y="4407"/>
                </a:cubicBezTo>
                <a:cubicBezTo>
                  <a:pt x="32016" y="2976"/>
                  <a:pt x="33653" y="0"/>
                  <a:pt x="36234" y="0"/>
                </a:cubicBezTo>
                <a:cubicBezTo>
                  <a:pt x="40248" y="0"/>
                  <a:pt x="43022" y="5883"/>
                  <a:pt x="47006" y="5386"/>
                </a:cubicBezTo>
                <a:cubicBezTo>
                  <a:pt x="50950" y="4894"/>
                  <a:pt x="54347" y="815"/>
                  <a:pt x="58267" y="1469"/>
                </a:cubicBezTo>
                <a:cubicBezTo>
                  <a:pt x="60888" y="1906"/>
                  <a:pt x="61537" y="6335"/>
                  <a:pt x="64143" y="6855"/>
                </a:cubicBezTo>
                <a:cubicBezTo>
                  <a:pt x="66673" y="7360"/>
                  <a:pt x="67928" y="2449"/>
                  <a:pt x="70508" y="2449"/>
                </a:cubicBezTo>
                <a:cubicBezTo>
                  <a:pt x="73000" y="2449"/>
                  <a:pt x="74382" y="6366"/>
                  <a:pt x="76874" y="6366"/>
                </a:cubicBezTo>
                <a:cubicBezTo>
                  <a:pt x="79576" y="6366"/>
                  <a:pt x="81516" y="2938"/>
                  <a:pt x="84218" y="2938"/>
                </a:cubicBezTo>
                <a:cubicBezTo>
                  <a:pt x="85984" y="2938"/>
                  <a:pt x="86927" y="6361"/>
                  <a:pt x="88625" y="5876"/>
                </a:cubicBezTo>
                <a:cubicBezTo>
                  <a:pt x="90942" y="5214"/>
                  <a:pt x="92652" y="3033"/>
                  <a:pt x="94990" y="2449"/>
                </a:cubicBezTo>
                <a:cubicBezTo>
                  <a:pt x="97371" y="1855"/>
                  <a:pt x="100080" y="3905"/>
                  <a:pt x="102335" y="2938"/>
                </a:cubicBezTo>
                <a:cubicBezTo>
                  <a:pt x="104091" y="2185"/>
                  <a:pt x="106370" y="-371"/>
                  <a:pt x="107721" y="980"/>
                </a:cubicBezTo>
                <a:cubicBezTo>
                  <a:pt x="109111" y="2370"/>
                  <a:pt x="109700" y="5063"/>
                  <a:pt x="111638" y="5386"/>
                </a:cubicBezTo>
                <a:cubicBezTo>
                  <a:pt x="114031" y="5784"/>
                  <a:pt x="116139" y="2349"/>
                  <a:pt x="118493" y="2938"/>
                </a:cubicBezTo>
                <a:cubicBezTo>
                  <a:pt x="121217" y="3620"/>
                  <a:pt x="122578" y="8297"/>
                  <a:pt x="125348" y="7835"/>
                </a:cubicBezTo>
                <a:cubicBezTo>
                  <a:pt x="129745" y="7102"/>
                  <a:pt x="133264" y="1367"/>
                  <a:pt x="137589" y="2449"/>
                </a:cubicBezTo>
                <a:cubicBezTo>
                  <a:pt x="139156" y="2841"/>
                  <a:pt x="139423" y="5610"/>
                  <a:pt x="141016" y="5876"/>
                </a:cubicBezTo>
                <a:cubicBezTo>
                  <a:pt x="142314" y="6092"/>
                  <a:pt x="143196" y="3501"/>
                  <a:pt x="144444" y="3918"/>
                </a:cubicBezTo>
                <a:cubicBezTo>
                  <a:pt x="149515" y="5611"/>
                  <a:pt x="155331" y="2883"/>
                  <a:pt x="160112" y="490"/>
                </a:cubicBezTo>
              </a:path>
            </a:pathLst>
          </a:custGeom>
          <a:noFill/>
          <a:ln cap="flat" cmpd="sng" w="9525">
            <a:solidFill>
              <a:schemeClr val="dk2"/>
            </a:solidFill>
            <a:prstDash val="solid"/>
            <a:round/>
            <a:headEnd len="med" w="med" type="none"/>
            <a:tailEnd len="med" w="med" type="none"/>
          </a:ln>
        </p:spPr>
      </p:sp>
      <p:sp>
        <p:nvSpPr>
          <p:cNvPr id="241" name="Google Shape;241;p27"/>
          <p:cNvSpPr txBox="1"/>
          <p:nvPr/>
        </p:nvSpPr>
        <p:spPr>
          <a:xfrm>
            <a:off x="4286825" y="3353675"/>
            <a:ext cx="2479800" cy="35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Balance Sheet</a:t>
            </a:r>
            <a:endParaRPr>
              <a:latin typeface="Calibri"/>
              <a:ea typeface="Calibri"/>
              <a:cs typeface="Calibri"/>
              <a:sym typeface="Calibri"/>
            </a:endParaRPr>
          </a:p>
        </p:txBody>
      </p:sp>
      <p:sp>
        <p:nvSpPr>
          <p:cNvPr id="242" name="Google Shape;242;p27"/>
          <p:cNvSpPr txBox="1"/>
          <p:nvPr/>
        </p:nvSpPr>
        <p:spPr>
          <a:xfrm>
            <a:off x="4412075" y="4596725"/>
            <a:ext cx="2479800" cy="35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Equity / Net Worth</a:t>
            </a:r>
            <a:endParaRPr>
              <a:latin typeface="Calibri"/>
              <a:ea typeface="Calibri"/>
              <a:cs typeface="Calibri"/>
              <a:sym typeface="Calibri"/>
            </a:endParaRPr>
          </a:p>
          <a:p>
            <a:pPr indent="0" lvl="0" marL="0" rtl="0" algn="ctr">
              <a:spcBef>
                <a:spcPts val="0"/>
              </a:spcBef>
              <a:spcAft>
                <a:spcPts val="0"/>
              </a:spcAft>
              <a:buNone/>
            </a:pPr>
            <a:r>
              <a:rPr lang="en-US">
                <a:latin typeface="Calibri"/>
                <a:ea typeface="Calibri"/>
                <a:cs typeface="Calibri"/>
                <a:sym typeface="Calibri"/>
              </a:rPr>
              <a:t>[Assets - Debts]</a:t>
            </a:r>
            <a:endParaRPr>
              <a:latin typeface="Calibri"/>
              <a:ea typeface="Calibri"/>
              <a:cs typeface="Calibri"/>
              <a:sym typeface="Calibri"/>
            </a:endParaRPr>
          </a:p>
        </p:txBody>
      </p:sp>
      <p:sp>
        <p:nvSpPr>
          <p:cNvPr id="243" name="Google Shape;243;p27"/>
          <p:cNvSpPr txBox="1"/>
          <p:nvPr/>
        </p:nvSpPr>
        <p:spPr>
          <a:xfrm>
            <a:off x="7352050" y="2387325"/>
            <a:ext cx="1893600" cy="35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000">
                <a:highlight>
                  <a:srgbClr val="00FF00"/>
                </a:highlight>
                <a:latin typeface="Calibri"/>
                <a:ea typeface="Calibri"/>
                <a:cs typeface="Calibri"/>
                <a:sym typeface="Calibri"/>
              </a:rPr>
              <a:t>Income (wages)</a:t>
            </a:r>
            <a:endParaRPr b="1" sz="3000">
              <a:highlight>
                <a:srgbClr val="00FF00"/>
              </a:highlight>
              <a:latin typeface="Calibri"/>
              <a:ea typeface="Calibri"/>
              <a:cs typeface="Calibri"/>
              <a:sym typeface="Calibri"/>
            </a:endParaRPr>
          </a:p>
        </p:txBody>
      </p:sp>
      <p:sp>
        <p:nvSpPr>
          <p:cNvPr id="244" name="Google Shape;244;p27"/>
          <p:cNvSpPr txBox="1"/>
          <p:nvPr/>
        </p:nvSpPr>
        <p:spPr>
          <a:xfrm>
            <a:off x="8411275" y="5178700"/>
            <a:ext cx="2744400" cy="35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300">
                <a:highlight>
                  <a:srgbClr val="F1C232"/>
                </a:highlight>
                <a:latin typeface="Calibri"/>
                <a:ea typeface="Calibri"/>
                <a:cs typeface="Calibri"/>
                <a:sym typeface="Calibri"/>
              </a:rPr>
              <a:t>Expenditures: fixed, discretionary, 1-time</a:t>
            </a:r>
            <a:endParaRPr b="1" sz="2300">
              <a:highlight>
                <a:srgbClr val="F1C232"/>
              </a:highlight>
              <a:latin typeface="Calibri"/>
              <a:ea typeface="Calibri"/>
              <a:cs typeface="Calibri"/>
              <a:sym typeface="Calibri"/>
            </a:endParaRPr>
          </a:p>
        </p:txBody>
      </p:sp>
      <p:sp>
        <p:nvSpPr>
          <p:cNvPr id="245" name="Google Shape;245;p27"/>
          <p:cNvSpPr txBox="1"/>
          <p:nvPr/>
        </p:nvSpPr>
        <p:spPr>
          <a:xfrm>
            <a:off x="9495775" y="3146000"/>
            <a:ext cx="1893600" cy="35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highlight>
                  <a:srgbClr val="FFFF00"/>
                </a:highlight>
                <a:latin typeface="Calibri"/>
                <a:ea typeface="Calibri"/>
                <a:cs typeface="Calibri"/>
                <a:sym typeface="Calibri"/>
              </a:rPr>
              <a:t>Net Savings or Borrowings</a:t>
            </a:r>
            <a:endParaRPr b="1" sz="2500">
              <a:highlight>
                <a:srgbClr val="FFFF00"/>
              </a:highlight>
              <a:latin typeface="Calibri"/>
              <a:ea typeface="Calibri"/>
              <a:cs typeface="Calibri"/>
              <a:sym typeface="Calibri"/>
            </a:endParaRPr>
          </a:p>
        </p:txBody>
      </p:sp>
      <p:sp>
        <p:nvSpPr>
          <p:cNvPr id="246" name="Google Shape;246;p27"/>
          <p:cNvSpPr txBox="1"/>
          <p:nvPr/>
        </p:nvSpPr>
        <p:spPr>
          <a:xfrm>
            <a:off x="598300" y="2564150"/>
            <a:ext cx="2392500" cy="35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500">
                <a:highlight>
                  <a:srgbClr val="00FF00"/>
                </a:highlight>
                <a:latin typeface="Calibri"/>
                <a:ea typeface="Calibri"/>
                <a:cs typeface="Calibri"/>
                <a:sym typeface="Calibri"/>
              </a:rPr>
              <a:t>Investment Income</a:t>
            </a:r>
            <a:endParaRPr b="1" sz="2500">
              <a:highlight>
                <a:srgbClr val="00FF00"/>
              </a:highlight>
              <a:latin typeface="Calibri"/>
              <a:ea typeface="Calibri"/>
              <a:cs typeface="Calibri"/>
              <a:sym typeface="Calibri"/>
            </a:endParaRPr>
          </a:p>
        </p:txBody>
      </p:sp>
      <p:sp>
        <p:nvSpPr>
          <p:cNvPr id="247" name="Google Shape;247;p27"/>
          <p:cNvSpPr txBox="1"/>
          <p:nvPr/>
        </p:nvSpPr>
        <p:spPr>
          <a:xfrm>
            <a:off x="475275" y="5550775"/>
            <a:ext cx="2258400" cy="35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000">
                <a:highlight>
                  <a:srgbClr val="F1C232"/>
                </a:highlight>
                <a:latin typeface="Calibri"/>
                <a:ea typeface="Calibri"/>
                <a:cs typeface="Calibri"/>
                <a:sym typeface="Calibri"/>
              </a:rPr>
              <a:t>Unexpected Expenditures</a:t>
            </a:r>
            <a:endParaRPr b="1" sz="3000">
              <a:highlight>
                <a:srgbClr val="F1C232"/>
              </a:highlight>
              <a:latin typeface="Calibri"/>
              <a:ea typeface="Calibri"/>
              <a:cs typeface="Calibri"/>
              <a:sym typeface="Calibri"/>
            </a:endParaRPr>
          </a:p>
        </p:txBody>
      </p:sp>
      <p:cxnSp>
        <p:nvCxnSpPr>
          <p:cNvPr id="248" name="Google Shape;248;p27"/>
          <p:cNvCxnSpPr/>
          <p:nvPr/>
        </p:nvCxnSpPr>
        <p:spPr>
          <a:xfrm rot="10800000">
            <a:off x="6891875" y="3613450"/>
            <a:ext cx="15300" cy="1017000"/>
          </a:xfrm>
          <a:prstGeom prst="straightConnector1">
            <a:avLst/>
          </a:prstGeom>
          <a:noFill/>
          <a:ln cap="flat" cmpd="sng" w="38100">
            <a:solidFill>
              <a:schemeClr val="dk2"/>
            </a:solidFill>
            <a:prstDash val="solid"/>
            <a:round/>
            <a:headEnd len="med" w="med" type="none"/>
            <a:tailEnd len="med" w="med" type="triangle"/>
          </a:ln>
        </p:spPr>
      </p:cxnSp>
      <p:cxnSp>
        <p:nvCxnSpPr>
          <p:cNvPr id="249" name="Google Shape;249;p27"/>
          <p:cNvCxnSpPr/>
          <p:nvPr/>
        </p:nvCxnSpPr>
        <p:spPr>
          <a:xfrm>
            <a:off x="7059575" y="4795475"/>
            <a:ext cx="49200" cy="1257900"/>
          </a:xfrm>
          <a:prstGeom prst="straightConnector1">
            <a:avLst/>
          </a:prstGeom>
          <a:noFill/>
          <a:ln cap="flat" cmpd="sng" w="38100">
            <a:solidFill>
              <a:schemeClr val="dk2"/>
            </a:solidFill>
            <a:prstDash val="solid"/>
            <a:round/>
            <a:headEnd len="med" w="med" type="none"/>
            <a:tailEnd len="med" w="med" type="triangle"/>
          </a:ln>
        </p:spPr>
      </p:cxnSp>
      <p:cxnSp>
        <p:nvCxnSpPr>
          <p:cNvPr id="250" name="Google Shape;250;p27"/>
          <p:cNvCxnSpPr/>
          <p:nvPr/>
        </p:nvCxnSpPr>
        <p:spPr>
          <a:xfrm rot="10800000">
            <a:off x="4111725" y="3613438"/>
            <a:ext cx="15300" cy="1017000"/>
          </a:xfrm>
          <a:prstGeom prst="straightConnector1">
            <a:avLst/>
          </a:prstGeom>
          <a:noFill/>
          <a:ln cap="flat" cmpd="sng" w="38100">
            <a:solidFill>
              <a:schemeClr val="dk2"/>
            </a:solidFill>
            <a:prstDash val="solid"/>
            <a:round/>
            <a:headEnd len="med" w="med" type="none"/>
            <a:tailEnd len="med" w="med" type="triangle"/>
          </a:ln>
        </p:spPr>
      </p:cxnSp>
      <p:cxnSp>
        <p:nvCxnSpPr>
          <p:cNvPr id="251" name="Google Shape;251;p27"/>
          <p:cNvCxnSpPr/>
          <p:nvPr/>
        </p:nvCxnSpPr>
        <p:spPr>
          <a:xfrm>
            <a:off x="4286825" y="4726900"/>
            <a:ext cx="49200" cy="1257900"/>
          </a:xfrm>
          <a:prstGeom prst="straightConnector1">
            <a:avLst/>
          </a:prstGeom>
          <a:noFill/>
          <a:ln cap="flat" cmpd="sng" w="38100">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10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0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10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000"/>
                                        <p:tgtEl>
                                          <p:spTgt spid="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1000"/>
                                        <p:tgtEl>
                                          <p:spTgt spid="2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type="title"/>
          </p:nvPr>
        </p:nvSpPr>
        <p:spPr>
          <a:xfrm>
            <a:off x="1097280" y="286603"/>
            <a:ext cx="10630894"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Calibri"/>
              <a:buNone/>
            </a:pPr>
            <a:r>
              <a:rPr lang="en-US"/>
              <a:t>D. Basic Entrepreneurial Financial Metrics</a:t>
            </a:r>
            <a:endParaRPr sz="1400"/>
          </a:p>
        </p:txBody>
      </p:sp>
      <p:sp>
        <p:nvSpPr>
          <p:cNvPr id="257" name="Google Shape;257;p28"/>
          <p:cNvSpPr txBox="1"/>
          <p:nvPr/>
        </p:nvSpPr>
        <p:spPr>
          <a:xfrm>
            <a:off x="1097280" y="1954130"/>
            <a:ext cx="4326239" cy="4110070"/>
          </a:xfrm>
          <a:prstGeom prst="rect">
            <a:avLst/>
          </a:prstGeom>
          <a:solidFill>
            <a:srgbClr val="D0EEF9"/>
          </a:solidFill>
          <a:ln>
            <a:noFill/>
          </a:ln>
        </p:spPr>
        <p:txBody>
          <a:bodyPr anchorCtr="0" anchor="t" bIns="45700" lIns="0" spcFirstLastPara="1" rIns="0" wrap="square" tIns="45700">
            <a:noAutofit/>
          </a:bodyPr>
          <a:lstStyle/>
          <a:p>
            <a:pPr indent="0" lvl="0" marL="114300" marR="0" rtl="0" algn="l">
              <a:lnSpc>
                <a:spcPct val="90000"/>
              </a:lnSpc>
              <a:spcBef>
                <a:spcPts val="1200"/>
              </a:spcBef>
              <a:spcAft>
                <a:spcPts val="0"/>
              </a:spcAft>
              <a:buClr>
                <a:schemeClr val="accent1"/>
              </a:buClr>
              <a:buSzPts val="1800"/>
              <a:buFont typeface="Calibri"/>
              <a:buNone/>
            </a:pPr>
            <a:r>
              <a:rPr b="1" i="0" lang="en-US" sz="1800" u="none" cap="none" strike="noStrike">
                <a:solidFill>
                  <a:srgbClr val="3F3F3F"/>
                </a:solidFill>
                <a:latin typeface="Calibri"/>
                <a:ea typeface="Calibri"/>
                <a:cs typeface="Calibri"/>
                <a:sym typeface="Calibri"/>
              </a:rPr>
              <a:t>Covered in this Workshop</a:t>
            </a:r>
            <a:endParaRPr/>
          </a:p>
          <a:p>
            <a:pPr indent="-342900" lvl="0" marL="457200" marR="0" rtl="0" algn="l">
              <a:lnSpc>
                <a:spcPct val="90000"/>
              </a:lnSpc>
              <a:spcBef>
                <a:spcPts val="1200"/>
              </a:spcBef>
              <a:spcAft>
                <a:spcPts val="0"/>
              </a:spcAft>
              <a:buClr>
                <a:schemeClr val="accent1"/>
              </a:buClr>
              <a:buSzPts val="1800"/>
              <a:buFont typeface="Arial"/>
              <a:buChar char="•"/>
            </a:pPr>
            <a:r>
              <a:rPr b="0" i="0" lang="en-US" sz="1800" u="none" cap="none" strike="noStrike">
                <a:solidFill>
                  <a:srgbClr val="3F3F3F"/>
                </a:solidFill>
                <a:latin typeface="Calibri"/>
                <a:ea typeface="Calibri"/>
                <a:cs typeface="Calibri"/>
                <a:sym typeface="Calibri"/>
              </a:rPr>
              <a:t>Balance Sheet Projections (3-5 yrs)</a:t>
            </a:r>
            <a:endParaRPr/>
          </a:p>
          <a:p>
            <a:pPr indent="-342900" lvl="1" marL="914400" marR="0" rtl="0" algn="l">
              <a:lnSpc>
                <a:spcPct val="90000"/>
              </a:lnSpc>
              <a:spcBef>
                <a:spcPts val="200"/>
              </a:spcBef>
              <a:spcAft>
                <a:spcPts val="0"/>
              </a:spcAft>
              <a:buClr>
                <a:schemeClr val="accent1"/>
              </a:buClr>
              <a:buSzPts val="1800"/>
              <a:buFont typeface="Arial"/>
              <a:buChar char="•"/>
            </a:pPr>
            <a:r>
              <a:rPr b="0" i="0" lang="en-US" sz="1600" u="none" cap="none" strike="noStrike">
                <a:solidFill>
                  <a:srgbClr val="3F3F3F"/>
                </a:solidFill>
                <a:latin typeface="Calibri"/>
                <a:ea typeface="Calibri"/>
                <a:cs typeface="Calibri"/>
                <a:sym typeface="Calibri"/>
              </a:rPr>
              <a:t>Start-Up Costs</a:t>
            </a:r>
            <a:endParaRPr/>
          </a:p>
          <a:p>
            <a:pPr indent="-342900" lvl="0" marL="457200" marR="0" rtl="0" algn="l">
              <a:lnSpc>
                <a:spcPct val="90000"/>
              </a:lnSpc>
              <a:spcBef>
                <a:spcPts val="1200"/>
              </a:spcBef>
              <a:spcAft>
                <a:spcPts val="0"/>
              </a:spcAft>
              <a:buClr>
                <a:schemeClr val="accent1"/>
              </a:buClr>
              <a:buSzPts val="1800"/>
              <a:buChar char="•"/>
            </a:pPr>
            <a:r>
              <a:rPr b="1" i="0" lang="en-US" sz="1800" u="sng" cap="none" strike="noStrike">
                <a:solidFill>
                  <a:srgbClr val="3F3F3F"/>
                </a:solidFill>
                <a:latin typeface="Calibri"/>
                <a:ea typeface="Calibri"/>
                <a:cs typeface="Calibri"/>
                <a:sym typeface="Calibri"/>
              </a:rPr>
              <a:t>Income Statement Projections (3-5 yrs)</a:t>
            </a:r>
            <a:endParaRPr b="1" u="sng"/>
          </a:p>
          <a:p>
            <a:pPr indent="-342900" lvl="1" marL="914400" marR="0" rtl="0" algn="l">
              <a:lnSpc>
                <a:spcPct val="90000"/>
              </a:lnSpc>
              <a:spcBef>
                <a:spcPts val="200"/>
              </a:spcBef>
              <a:spcAft>
                <a:spcPts val="0"/>
              </a:spcAft>
              <a:buClr>
                <a:schemeClr val="accent1"/>
              </a:buClr>
              <a:buSzPts val="1800"/>
              <a:buFont typeface="Arial"/>
              <a:buChar char="•"/>
            </a:pPr>
            <a:r>
              <a:rPr b="0" i="0" lang="en-US" sz="1600" u="none" cap="none" strike="noStrike">
                <a:solidFill>
                  <a:srgbClr val="3F3F3F"/>
                </a:solidFill>
                <a:latin typeface="Calibri"/>
                <a:ea typeface="Calibri"/>
                <a:cs typeface="Calibri"/>
                <a:sym typeface="Calibri"/>
              </a:rPr>
              <a:t>Unit Cost</a:t>
            </a:r>
            <a:endParaRPr/>
          </a:p>
          <a:p>
            <a:pPr indent="-342900" lvl="1" marL="914400" marR="0" rtl="0" algn="l">
              <a:lnSpc>
                <a:spcPct val="90000"/>
              </a:lnSpc>
              <a:spcBef>
                <a:spcPts val="200"/>
              </a:spcBef>
              <a:spcAft>
                <a:spcPts val="0"/>
              </a:spcAft>
              <a:buClr>
                <a:schemeClr val="accent1"/>
              </a:buClr>
              <a:buSzPts val="1800"/>
              <a:buFont typeface="Arial"/>
              <a:buChar char="•"/>
            </a:pPr>
            <a:r>
              <a:rPr b="0" i="0" lang="en-US" sz="1600" u="none" cap="none" strike="noStrike">
                <a:solidFill>
                  <a:srgbClr val="3F3F3F"/>
                </a:solidFill>
                <a:latin typeface="Calibri"/>
                <a:ea typeface="Calibri"/>
                <a:cs typeface="Calibri"/>
                <a:sym typeface="Calibri"/>
              </a:rPr>
              <a:t>Sales Projections</a:t>
            </a:r>
            <a:endParaRPr/>
          </a:p>
          <a:p>
            <a:pPr indent="-342900" lvl="1" marL="914400" marR="0" rtl="0" algn="l">
              <a:lnSpc>
                <a:spcPct val="90000"/>
              </a:lnSpc>
              <a:spcBef>
                <a:spcPts val="200"/>
              </a:spcBef>
              <a:spcAft>
                <a:spcPts val="0"/>
              </a:spcAft>
              <a:buClr>
                <a:schemeClr val="accent1"/>
              </a:buClr>
              <a:buSzPts val="1800"/>
              <a:buFont typeface="Arial"/>
              <a:buChar char="•"/>
            </a:pPr>
            <a:r>
              <a:rPr b="0" i="0" lang="en-US" sz="1400" u="none" cap="none" strike="noStrike">
                <a:solidFill>
                  <a:srgbClr val="3F3F3F"/>
                </a:solidFill>
                <a:latin typeface="Calibri"/>
                <a:ea typeface="Calibri"/>
                <a:cs typeface="Calibri"/>
                <a:sym typeface="Calibri"/>
              </a:rPr>
              <a:t>Operating Costs/Expenses</a:t>
            </a:r>
            <a:endParaRPr/>
          </a:p>
          <a:p>
            <a:pPr indent="-342900" lvl="0" marL="457200" marR="0" rtl="0" algn="l">
              <a:lnSpc>
                <a:spcPct val="90000"/>
              </a:lnSpc>
              <a:spcBef>
                <a:spcPts val="1200"/>
              </a:spcBef>
              <a:spcAft>
                <a:spcPts val="0"/>
              </a:spcAft>
              <a:buClr>
                <a:schemeClr val="accent1"/>
              </a:buClr>
              <a:buSzPts val="1800"/>
              <a:buFont typeface="Arial"/>
              <a:buChar char="•"/>
            </a:pPr>
            <a:r>
              <a:rPr b="0" i="0" lang="en-US" sz="1800" u="none" cap="none" strike="noStrike">
                <a:solidFill>
                  <a:srgbClr val="3F3F3F"/>
                </a:solidFill>
                <a:latin typeface="Calibri"/>
                <a:ea typeface="Calibri"/>
                <a:cs typeface="Calibri"/>
                <a:sym typeface="Calibri"/>
              </a:rPr>
              <a:t>Break-Even Analysis</a:t>
            </a:r>
            <a:endParaRPr/>
          </a:p>
          <a:p>
            <a:pPr indent="-342900" lvl="1" marL="914400" marR="0" rtl="0" algn="l">
              <a:lnSpc>
                <a:spcPct val="90000"/>
              </a:lnSpc>
              <a:spcBef>
                <a:spcPts val="200"/>
              </a:spcBef>
              <a:spcAft>
                <a:spcPts val="0"/>
              </a:spcAft>
              <a:buClr>
                <a:schemeClr val="accent1"/>
              </a:buClr>
              <a:buSzPts val="1800"/>
              <a:buFont typeface="Arial"/>
              <a:buChar char="•"/>
            </a:pPr>
            <a:r>
              <a:rPr b="0" i="0" lang="en-US" sz="1600" u="none" cap="none" strike="noStrike">
                <a:solidFill>
                  <a:srgbClr val="3F3F3F"/>
                </a:solidFill>
                <a:latin typeface="Calibri"/>
                <a:ea typeface="Calibri"/>
                <a:cs typeface="Calibri"/>
                <a:sym typeface="Calibri"/>
              </a:rPr>
              <a:t>Fixed and Variable Costs</a:t>
            </a:r>
            <a:endParaRPr/>
          </a:p>
          <a:p>
            <a:pPr indent="-342900" lvl="0" marL="457200" marR="0" rtl="0" algn="l">
              <a:lnSpc>
                <a:spcPct val="90000"/>
              </a:lnSpc>
              <a:spcBef>
                <a:spcPts val="1200"/>
              </a:spcBef>
              <a:spcAft>
                <a:spcPts val="0"/>
              </a:spcAft>
              <a:buClr>
                <a:schemeClr val="accent1"/>
              </a:buClr>
              <a:buSzPts val="1800"/>
              <a:buFont typeface="Arial"/>
              <a:buChar char="•"/>
            </a:pPr>
            <a:r>
              <a:rPr b="0" i="0" lang="en-US" sz="1800" u="none" cap="none" strike="noStrike">
                <a:solidFill>
                  <a:srgbClr val="3F3F3F"/>
                </a:solidFill>
                <a:latin typeface="Calibri"/>
                <a:ea typeface="Calibri"/>
                <a:cs typeface="Calibri"/>
                <a:sym typeface="Calibri"/>
              </a:rPr>
              <a:t>Cash Flow Statement</a:t>
            </a:r>
            <a:endParaRPr/>
          </a:p>
          <a:p>
            <a:pPr indent="-342900" lvl="1" marL="914400" marR="0" rtl="0" algn="l">
              <a:lnSpc>
                <a:spcPct val="90000"/>
              </a:lnSpc>
              <a:spcBef>
                <a:spcPts val="200"/>
              </a:spcBef>
              <a:spcAft>
                <a:spcPts val="0"/>
              </a:spcAft>
              <a:buClr>
                <a:schemeClr val="accent1"/>
              </a:buClr>
              <a:buSzPts val="1800"/>
              <a:buFont typeface="Arial"/>
              <a:buChar char="•"/>
            </a:pPr>
            <a:r>
              <a:rPr b="0" i="0" lang="en-US" sz="1600" u="none" cap="none" strike="noStrike">
                <a:solidFill>
                  <a:srgbClr val="3F3F3F"/>
                </a:solidFill>
                <a:latin typeface="Calibri"/>
                <a:ea typeface="Calibri"/>
                <a:cs typeface="Calibri"/>
                <a:sym typeface="Calibri"/>
              </a:rPr>
              <a:t>Free Cash Flow</a:t>
            </a:r>
            <a:endParaRPr/>
          </a:p>
        </p:txBody>
      </p:sp>
      <p:sp>
        <p:nvSpPr>
          <p:cNvPr id="258" name="Google Shape;258;p28"/>
          <p:cNvSpPr txBox="1"/>
          <p:nvPr/>
        </p:nvSpPr>
        <p:spPr>
          <a:xfrm>
            <a:off x="6028267" y="1954130"/>
            <a:ext cx="5452533" cy="403187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NOT COVERED in this Workshop</a:t>
            </a:r>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Trend Analysis, Cross-Sector Analysis, Industry Benchmarking</a:t>
            </a:r>
            <a:endParaRPr/>
          </a:p>
          <a:p>
            <a:pPr indent="-184150" lvl="0" marL="28575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Liquidity Ratios</a:t>
            </a:r>
            <a:endParaRPr/>
          </a:p>
          <a:p>
            <a:pPr indent="-184150" lvl="0" marL="28575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Profitability Ratios</a:t>
            </a:r>
            <a:endParaRPr/>
          </a:p>
          <a:p>
            <a:pPr indent="-184150" lvl="0" marL="28575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Leverage Ratios</a:t>
            </a:r>
            <a:endParaRPr/>
          </a:p>
          <a:p>
            <a:pPr indent="-184150" lvl="0" marL="28575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Cash Conversion Cycle (Sales and Purch Conv. Cycles)</a:t>
            </a:r>
            <a:endParaRPr/>
          </a:p>
          <a:p>
            <a:pPr indent="-184150" lvl="0" marL="28575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Burn Rate (Cash Burn, Cash Build, Net Burn Rate)</a:t>
            </a:r>
            <a:endParaRPr/>
          </a:p>
          <a:p>
            <a:pPr indent="-184150" lvl="0" marL="28575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10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9"/>
          <p:cNvSpPr txBox="1"/>
          <p:nvPr>
            <p:ph type="title"/>
          </p:nvPr>
        </p:nvSpPr>
        <p:spPr>
          <a:xfrm>
            <a:off x="1097280" y="-43179"/>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1800"/>
              <a:buNone/>
            </a:pPr>
            <a:r>
              <a:rPr lang="en-US" sz="4000"/>
              <a:t>D. Recommended Approach</a:t>
            </a:r>
            <a:endParaRPr sz="3600"/>
          </a:p>
        </p:txBody>
      </p:sp>
      <p:sp>
        <p:nvSpPr>
          <p:cNvPr id="264" name="Google Shape;264;p29"/>
          <p:cNvSpPr txBox="1"/>
          <p:nvPr/>
        </p:nvSpPr>
        <p:spPr>
          <a:xfrm>
            <a:off x="4977450" y="1925425"/>
            <a:ext cx="6421200" cy="4013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Calibri"/>
              <a:buAutoNum type="arabicPeriod"/>
            </a:pPr>
            <a:r>
              <a:rPr b="1" lang="en-US">
                <a:latin typeface="Calibri"/>
                <a:ea typeface="Calibri"/>
                <a:cs typeface="Calibri"/>
                <a:sym typeface="Calibri"/>
              </a:rPr>
              <a:t>Sales/Revenue Projections: Sales Price x Units Sold</a:t>
            </a:r>
            <a:endParaRPr>
              <a:latin typeface="Calibri"/>
              <a:ea typeface="Calibri"/>
              <a:cs typeface="Calibri"/>
              <a:sym typeface="Calibri"/>
            </a:endParaRPr>
          </a:p>
          <a:p>
            <a:pPr indent="-317500" lvl="1" marL="914400" rtl="0" algn="l">
              <a:spcBef>
                <a:spcPts val="0"/>
              </a:spcBef>
              <a:spcAft>
                <a:spcPts val="0"/>
              </a:spcAft>
              <a:buSzPts val="1400"/>
              <a:buFont typeface="Calibri"/>
              <a:buAutoNum type="alphaLcPeriod"/>
            </a:pPr>
            <a:r>
              <a:rPr lang="en-US">
                <a:latin typeface="Calibri"/>
                <a:ea typeface="Calibri"/>
                <a:cs typeface="Calibri"/>
                <a:sym typeface="Calibri"/>
              </a:rPr>
              <a:t>Determine Unit of Product or Service</a:t>
            </a:r>
            <a:endParaRPr>
              <a:latin typeface="Calibri"/>
              <a:ea typeface="Calibri"/>
              <a:cs typeface="Calibri"/>
              <a:sym typeface="Calibri"/>
            </a:endParaRPr>
          </a:p>
          <a:p>
            <a:pPr indent="-317500" lvl="1" marL="914400" rtl="0" algn="l">
              <a:spcBef>
                <a:spcPts val="0"/>
              </a:spcBef>
              <a:spcAft>
                <a:spcPts val="0"/>
              </a:spcAft>
              <a:buSzPts val="1400"/>
              <a:buFont typeface="Calibri"/>
              <a:buAutoNum type="alphaLcPeriod"/>
            </a:pPr>
            <a:r>
              <a:rPr lang="en-US">
                <a:latin typeface="Calibri"/>
                <a:ea typeface="Calibri"/>
                <a:cs typeface="Calibri"/>
                <a:sym typeface="Calibri"/>
              </a:rPr>
              <a:t>Estimate Unit’s Cost </a:t>
            </a:r>
            <a:endParaRPr>
              <a:latin typeface="Calibri"/>
              <a:ea typeface="Calibri"/>
              <a:cs typeface="Calibri"/>
              <a:sym typeface="Calibri"/>
            </a:endParaRPr>
          </a:p>
          <a:p>
            <a:pPr indent="-317500" lvl="1" marL="914400" rtl="0" algn="l">
              <a:spcBef>
                <a:spcPts val="0"/>
              </a:spcBef>
              <a:spcAft>
                <a:spcPts val="0"/>
              </a:spcAft>
              <a:buSzPts val="1400"/>
              <a:buFont typeface="Calibri"/>
              <a:buAutoNum type="alphaLcPeriod"/>
            </a:pPr>
            <a:r>
              <a:rPr lang="en-US">
                <a:latin typeface="Calibri"/>
                <a:ea typeface="Calibri"/>
                <a:cs typeface="Calibri"/>
                <a:sym typeface="Calibri"/>
              </a:rPr>
              <a:t>Estimate Total Demand for Product Service</a:t>
            </a:r>
            <a:endParaRPr>
              <a:latin typeface="Calibri"/>
              <a:ea typeface="Calibri"/>
              <a:cs typeface="Calibri"/>
              <a:sym typeface="Calibri"/>
            </a:endParaRPr>
          </a:p>
          <a:p>
            <a:pPr indent="-317500" lvl="1" marL="914400" rtl="0" algn="l">
              <a:spcBef>
                <a:spcPts val="0"/>
              </a:spcBef>
              <a:spcAft>
                <a:spcPts val="0"/>
              </a:spcAft>
              <a:buSzPts val="1400"/>
              <a:buFont typeface="Calibri"/>
              <a:buAutoNum type="alphaLcPeriod"/>
            </a:pPr>
            <a:r>
              <a:rPr lang="en-US">
                <a:latin typeface="Calibri"/>
                <a:ea typeface="Calibri"/>
                <a:cs typeface="Calibri"/>
                <a:sym typeface="Calibri"/>
              </a:rPr>
              <a:t>Determine Price per Unit of Sale</a:t>
            </a:r>
            <a:endParaRPr>
              <a:latin typeface="Calibri"/>
              <a:ea typeface="Calibri"/>
              <a:cs typeface="Calibri"/>
              <a:sym typeface="Calibri"/>
            </a:endParaRPr>
          </a:p>
          <a:p>
            <a:pPr indent="-317500" lvl="0" marL="457200" rtl="0" algn="l">
              <a:spcBef>
                <a:spcPts val="0"/>
              </a:spcBef>
              <a:spcAft>
                <a:spcPts val="0"/>
              </a:spcAft>
              <a:buSzPts val="1400"/>
              <a:buFont typeface="Calibri"/>
              <a:buAutoNum type="arabicPeriod"/>
            </a:pPr>
            <a:r>
              <a:rPr b="1" lang="en-US">
                <a:solidFill>
                  <a:schemeClr val="dk1"/>
                </a:solidFill>
                <a:latin typeface="Calibri"/>
                <a:ea typeface="Calibri"/>
                <a:cs typeface="Calibri"/>
                <a:sym typeface="Calibri"/>
              </a:rPr>
              <a:t>Estimate Start-Up Costs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AutoNum type="arabicPeriod"/>
            </a:pPr>
            <a:r>
              <a:rPr b="1" lang="en-US">
                <a:solidFill>
                  <a:schemeClr val="dk1"/>
                </a:solidFill>
                <a:latin typeface="Calibri"/>
                <a:ea typeface="Calibri"/>
                <a:cs typeface="Calibri"/>
                <a:sym typeface="Calibri"/>
              </a:rPr>
              <a:t>Estimate Operating Costs</a:t>
            </a:r>
            <a:r>
              <a:rPr lang="en-US">
                <a:solidFill>
                  <a:schemeClr val="dk1"/>
                </a:solidFill>
                <a:latin typeface="Calibri"/>
                <a:ea typeface="Calibri"/>
                <a:cs typeface="Calibri"/>
                <a:sym typeface="Calibri"/>
              </a:rPr>
              <a:t> for first month and for the following 12-months, stating your assumptions for changes.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AutoNum type="arabicPeriod"/>
            </a:pPr>
            <a:r>
              <a:rPr lang="en-US">
                <a:solidFill>
                  <a:schemeClr val="dk1"/>
                </a:solidFill>
                <a:latin typeface="Calibri"/>
                <a:ea typeface="Calibri"/>
                <a:cs typeface="Calibri"/>
                <a:sym typeface="Calibri"/>
              </a:rPr>
              <a:t>If you want to show break-even (not requested for this competition), you should also categorize each of the costs above as either FIXED or VARIABLE</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AutoNum type="arabicPeriod"/>
            </a:pPr>
            <a:r>
              <a:rPr b="1" lang="en-US">
                <a:solidFill>
                  <a:schemeClr val="dk1"/>
                </a:solidFill>
                <a:latin typeface="Calibri"/>
                <a:ea typeface="Calibri"/>
                <a:cs typeface="Calibri"/>
                <a:sym typeface="Calibri"/>
              </a:rPr>
              <a:t>Construct your 12-month Income Statement Projection</a:t>
            </a:r>
            <a:r>
              <a:rPr lang="en-US">
                <a:solidFill>
                  <a:schemeClr val="dk1"/>
                </a:solidFill>
                <a:latin typeface="Calibri"/>
                <a:ea typeface="Calibri"/>
                <a:cs typeface="Calibri"/>
                <a:sym typeface="Calibri"/>
              </a:rPr>
              <a:t> given the above.</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AutoNum type="arabicPeriod"/>
            </a:pPr>
            <a:r>
              <a:rPr b="1" lang="en-US">
                <a:solidFill>
                  <a:schemeClr val="dk1"/>
                </a:solidFill>
                <a:latin typeface="Calibri"/>
                <a:ea typeface="Calibri"/>
                <a:cs typeface="Calibri"/>
                <a:sym typeface="Calibri"/>
              </a:rPr>
              <a:t>Construct the following yearly projections (Years 2-5)</a:t>
            </a:r>
            <a:r>
              <a:rPr lang="en-US">
                <a:solidFill>
                  <a:schemeClr val="dk1"/>
                </a:solidFill>
                <a:latin typeface="Calibri"/>
                <a:ea typeface="Calibri"/>
                <a:cs typeface="Calibri"/>
                <a:sym typeface="Calibri"/>
              </a:rPr>
              <a:t>, given growth factors or other changes within each year -- state your assumptions.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AutoNum type="arabicPeriod"/>
            </a:pPr>
            <a:r>
              <a:rPr lang="en-US">
                <a:solidFill>
                  <a:schemeClr val="dk1"/>
                </a:solidFill>
                <a:latin typeface="Calibri"/>
                <a:ea typeface="Calibri"/>
                <a:cs typeface="Calibri"/>
                <a:sym typeface="Calibri"/>
              </a:rPr>
              <a:t>Note that I have added a cash flow section to the 5-yr income statement tab in the SCORE template.</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grpSp>
        <p:nvGrpSpPr>
          <p:cNvPr id="265" name="Google Shape;265;p29"/>
          <p:cNvGrpSpPr/>
          <p:nvPr/>
        </p:nvGrpSpPr>
        <p:grpSpPr>
          <a:xfrm>
            <a:off x="1426125" y="2114825"/>
            <a:ext cx="2910300" cy="1729975"/>
            <a:chOff x="1368200" y="3070475"/>
            <a:chExt cx="2910300" cy="1729975"/>
          </a:xfrm>
        </p:grpSpPr>
        <p:sp>
          <p:nvSpPr>
            <p:cNvPr id="266" name="Google Shape;266;p29"/>
            <p:cNvSpPr txBox="1"/>
            <p:nvPr/>
          </p:nvSpPr>
          <p:spPr>
            <a:xfrm>
              <a:off x="1368200" y="4003950"/>
              <a:ext cx="2910300" cy="79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latin typeface="Calibri"/>
                  <a:ea typeface="Calibri"/>
                  <a:cs typeface="Calibri"/>
                  <a:sym typeface="Calibri"/>
                </a:rPr>
                <a:t>For the College Leap Competition &gt;&gt;&gt;&gt;</a:t>
              </a:r>
              <a:endParaRPr b="1" sz="19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pic>
          <p:nvPicPr>
            <p:cNvPr id="267" name="Google Shape;267;p29"/>
            <p:cNvPicPr preferRelativeResize="0"/>
            <p:nvPr/>
          </p:nvPicPr>
          <p:blipFill>
            <a:blip r:embed="rId3">
              <a:alphaModFix/>
            </a:blip>
            <a:stretch>
              <a:fillRect/>
            </a:stretch>
          </p:blipFill>
          <p:spPr>
            <a:xfrm>
              <a:off x="1368200" y="3070475"/>
              <a:ext cx="2343150" cy="866775"/>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Effect filter="fade" transition="in">
                                      <p:cBhvr>
                                        <p:cTn dur="1000"/>
                                        <p:tgtEl>
                                          <p:spTgt spid="2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1" st="1"/>
                                            </p:txEl>
                                          </p:spTgt>
                                        </p:tgtEl>
                                        <p:attrNameLst>
                                          <p:attrName>style.visibility</p:attrName>
                                        </p:attrNameLst>
                                      </p:cBhvr>
                                      <p:to>
                                        <p:strVal val="visible"/>
                                      </p:to>
                                    </p:set>
                                    <p:animEffect filter="fade" transition="in">
                                      <p:cBhvr>
                                        <p:cTn dur="1000"/>
                                        <p:tgtEl>
                                          <p:spTgt spid="2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2" st="2"/>
                                            </p:txEl>
                                          </p:spTgt>
                                        </p:tgtEl>
                                        <p:attrNameLst>
                                          <p:attrName>style.visibility</p:attrName>
                                        </p:attrNameLst>
                                      </p:cBhvr>
                                      <p:to>
                                        <p:strVal val="visible"/>
                                      </p:to>
                                    </p:set>
                                    <p:animEffect filter="fade" transition="in">
                                      <p:cBhvr>
                                        <p:cTn dur="1000"/>
                                        <p:tgtEl>
                                          <p:spTgt spid="2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3" st="3"/>
                                            </p:txEl>
                                          </p:spTgt>
                                        </p:tgtEl>
                                        <p:attrNameLst>
                                          <p:attrName>style.visibility</p:attrName>
                                        </p:attrNameLst>
                                      </p:cBhvr>
                                      <p:to>
                                        <p:strVal val="visible"/>
                                      </p:to>
                                    </p:set>
                                    <p:animEffect filter="fade" transition="in">
                                      <p:cBhvr>
                                        <p:cTn dur="1000"/>
                                        <p:tgtEl>
                                          <p:spTgt spid="2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4" st="4"/>
                                            </p:txEl>
                                          </p:spTgt>
                                        </p:tgtEl>
                                        <p:attrNameLst>
                                          <p:attrName>style.visibility</p:attrName>
                                        </p:attrNameLst>
                                      </p:cBhvr>
                                      <p:to>
                                        <p:strVal val="visible"/>
                                      </p:to>
                                    </p:set>
                                    <p:animEffect filter="fade" transition="in">
                                      <p:cBhvr>
                                        <p:cTn dur="1000"/>
                                        <p:tgtEl>
                                          <p:spTgt spid="2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5" st="5"/>
                                            </p:txEl>
                                          </p:spTgt>
                                        </p:tgtEl>
                                        <p:attrNameLst>
                                          <p:attrName>style.visibility</p:attrName>
                                        </p:attrNameLst>
                                      </p:cBhvr>
                                      <p:to>
                                        <p:strVal val="visible"/>
                                      </p:to>
                                    </p:set>
                                    <p:animEffect filter="fade" transition="in">
                                      <p:cBhvr>
                                        <p:cTn dur="1000"/>
                                        <p:tgtEl>
                                          <p:spTgt spid="2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6" st="6"/>
                                            </p:txEl>
                                          </p:spTgt>
                                        </p:tgtEl>
                                        <p:attrNameLst>
                                          <p:attrName>style.visibility</p:attrName>
                                        </p:attrNameLst>
                                      </p:cBhvr>
                                      <p:to>
                                        <p:strVal val="visible"/>
                                      </p:to>
                                    </p:set>
                                    <p:animEffect filter="fade" transition="in">
                                      <p:cBhvr>
                                        <p:cTn dur="1000"/>
                                        <p:tgtEl>
                                          <p:spTgt spid="26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7" st="7"/>
                                            </p:txEl>
                                          </p:spTgt>
                                        </p:tgtEl>
                                        <p:attrNameLst>
                                          <p:attrName>style.visibility</p:attrName>
                                        </p:attrNameLst>
                                      </p:cBhvr>
                                      <p:to>
                                        <p:strVal val="visible"/>
                                      </p:to>
                                    </p:set>
                                    <p:animEffect filter="fade" transition="in">
                                      <p:cBhvr>
                                        <p:cTn dur="1000"/>
                                        <p:tgtEl>
                                          <p:spTgt spid="26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8" st="8"/>
                                            </p:txEl>
                                          </p:spTgt>
                                        </p:tgtEl>
                                        <p:attrNameLst>
                                          <p:attrName>style.visibility</p:attrName>
                                        </p:attrNameLst>
                                      </p:cBhvr>
                                      <p:to>
                                        <p:strVal val="visible"/>
                                      </p:to>
                                    </p:set>
                                    <p:animEffect filter="fade" transition="in">
                                      <p:cBhvr>
                                        <p:cTn dur="1000"/>
                                        <p:tgtEl>
                                          <p:spTgt spid="26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9" st="9"/>
                                            </p:txEl>
                                          </p:spTgt>
                                        </p:tgtEl>
                                        <p:attrNameLst>
                                          <p:attrName>style.visibility</p:attrName>
                                        </p:attrNameLst>
                                      </p:cBhvr>
                                      <p:to>
                                        <p:strVal val="visible"/>
                                      </p:to>
                                    </p:set>
                                    <p:animEffect filter="fade" transition="in">
                                      <p:cBhvr>
                                        <p:cTn dur="1000"/>
                                        <p:tgtEl>
                                          <p:spTgt spid="26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10" st="10"/>
                                            </p:txEl>
                                          </p:spTgt>
                                        </p:tgtEl>
                                        <p:attrNameLst>
                                          <p:attrName>style.visibility</p:attrName>
                                        </p:attrNameLst>
                                      </p:cBhvr>
                                      <p:to>
                                        <p:strVal val="visible"/>
                                      </p:to>
                                    </p:set>
                                    <p:animEffect filter="fade" transition="in">
                                      <p:cBhvr>
                                        <p:cTn dur="1000"/>
                                        <p:tgtEl>
                                          <p:spTgt spid="26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11" st="11"/>
                                            </p:txEl>
                                          </p:spTgt>
                                        </p:tgtEl>
                                        <p:attrNameLst>
                                          <p:attrName>style.visibility</p:attrName>
                                        </p:attrNameLst>
                                      </p:cBhvr>
                                      <p:to>
                                        <p:strVal val="visible"/>
                                      </p:to>
                                    </p:set>
                                    <p:animEffect filter="fade" transition="in">
                                      <p:cBhvr>
                                        <p:cTn dur="1000"/>
                                        <p:tgtEl>
                                          <p:spTgt spid="264">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 name="Shape 272"/>
        <p:cNvGrpSpPr/>
        <p:nvPr/>
      </p:nvGrpSpPr>
      <p:grpSpPr>
        <a:xfrm>
          <a:off x="0" y="0"/>
          <a:ext cx="0" cy="0"/>
          <a:chOff x="0" y="0"/>
          <a:chExt cx="0" cy="0"/>
        </a:xfrm>
      </p:grpSpPr>
      <p:pic>
        <p:nvPicPr>
          <p:cNvPr descr="logo-id" id="273" name="Google Shape;273;p30">
            <a:hlinkClick r:id="rId3"/>
          </p:cNvPr>
          <p:cNvPicPr preferRelativeResize="0"/>
          <p:nvPr/>
        </p:nvPicPr>
        <p:blipFill>
          <a:blip r:embed="rId4">
            <a:alphaModFix/>
          </a:blip>
          <a:stretch>
            <a:fillRect/>
          </a:stretch>
        </p:blipFill>
        <p:spPr>
          <a:xfrm>
            <a:off x="5512999" y="602187"/>
            <a:ext cx="1166001" cy="510125"/>
          </a:xfrm>
          <a:prstGeom prst="rect">
            <a:avLst/>
          </a:prstGeom>
          <a:noFill/>
          <a:ln>
            <a:noFill/>
          </a:ln>
        </p:spPr>
      </p:pic>
      <p:sp>
        <p:nvSpPr>
          <p:cNvPr descr="footer-id" id="274" name="Google Shape;274;p30"/>
          <p:cNvSpPr txBox="1"/>
          <p:nvPr/>
        </p:nvSpPr>
        <p:spPr>
          <a:xfrm>
            <a:off x="0" y="5143500"/>
            <a:ext cx="12192000" cy="171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300">
                <a:solidFill>
                  <a:srgbClr val="39AC37"/>
                </a:solidFill>
                <a:latin typeface="Calibri"/>
                <a:ea typeface="Calibri"/>
                <a:cs typeface="Calibri"/>
                <a:sym typeface="Calibri"/>
              </a:rPr>
              <a:t>ⓘ</a:t>
            </a:r>
            <a:r>
              <a:rPr lang="en-US">
                <a:latin typeface="Calibri"/>
                <a:ea typeface="Calibri"/>
                <a:cs typeface="Calibri"/>
                <a:sym typeface="Calibri"/>
              </a:rPr>
              <a:t> Start presenting to display the poll results on this slide.</a:t>
            </a:r>
            <a:endParaRPr>
              <a:latin typeface="Calibri"/>
              <a:ea typeface="Calibri"/>
              <a:cs typeface="Calibri"/>
              <a:sym typeface="Calibri"/>
            </a:endParaRPr>
          </a:p>
        </p:txBody>
      </p:sp>
      <p:sp>
        <p:nvSpPr>
          <p:cNvPr descr="title-id" id="275" name="Google Shape;275;p30"/>
          <p:cNvSpPr txBox="1"/>
          <p:nvPr/>
        </p:nvSpPr>
        <p:spPr>
          <a:xfrm>
            <a:off x="0" y="1714500"/>
            <a:ext cx="12192000" cy="3429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3600">
                <a:solidFill>
                  <a:srgbClr val="424242"/>
                </a:solidFill>
                <a:latin typeface="Lato"/>
                <a:ea typeface="Lato"/>
                <a:cs typeface="Lato"/>
                <a:sym typeface="Lato"/>
              </a:rPr>
              <a:t>Check each that you have already completed</a:t>
            </a:r>
            <a:endParaRPr sz="3600">
              <a:solidFill>
                <a:srgbClr val="424242"/>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1"/>
          <p:cNvSpPr txBox="1"/>
          <p:nvPr>
            <p:ph type="title"/>
          </p:nvPr>
        </p:nvSpPr>
        <p:spPr>
          <a:xfrm>
            <a:off x="1097280" y="227749"/>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1800"/>
              <a:buNone/>
            </a:pPr>
            <a:r>
              <a:rPr lang="en-US" sz="4000"/>
              <a:t>D</a:t>
            </a:r>
            <a:r>
              <a:rPr lang="en-US" sz="4000"/>
              <a:t>. Sales &amp; Operating Expenses Projections and the Income Statement</a:t>
            </a:r>
            <a:endParaRPr sz="3600"/>
          </a:p>
        </p:txBody>
      </p:sp>
      <p:pic>
        <p:nvPicPr>
          <p:cNvPr id="281" name="Google Shape;281;p31"/>
          <p:cNvPicPr preferRelativeResize="0"/>
          <p:nvPr/>
        </p:nvPicPr>
        <p:blipFill>
          <a:blip r:embed="rId3">
            <a:alphaModFix/>
          </a:blip>
          <a:stretch>
            <a:fillRect/>
          </a:stretch>
        </p:blipFill>
        <p:spPr>
          <a:xfrm>
            <a:off x="650225" y="1874625"/>
            <a:ext cx="1383301" cy="1346110"/>
          </a:xfrm>
          <a:prstGeom prst="rect">
            <a:avLst/>
          </a:prstGeom>
          <a:noFill/>
          <a:ln>
            <a:noFill/>
          </a:ln>
        </p:spPr>
      </p:pic>
      <p:pic>
        <p:nvPicPr>
          <p:cNvPr id="282" name="Google Shape;282;p31"/>
          <p:cNvPicPr preferRelativeResize="0"/>
          <p:nvPr/>
        </p:nvPicPr>
        <p:blipFill>
          <a:blip r:embed="rId4">
            <a:alphaModFix/>
          </a:blip>
          <a:stretch>
            <a:fillRect/>
          </a:stretch>
        </p:blipFill>
        <p:spPr>
          <a:xfrm>
            <a:off x="2033525" y="1874625"/>
            <a:ext cx="4973324" cy="3987700"/>
          </a:xfrm>
          <a:prstGeom prst="rect">
            <a:avLst/>
          </a:prstGeom>
          <a:noFill/>
          <a:ln>
            <a:noFill/>
          </a:ln>
        </p:spPr>
      </p:pic>
      <p:pic>
        <p:nvPicPr>
          <p:cNvPr id="283" name="Google Shape;283;p31"/>
          <p:cNvPicPr preferRelativeResize="0"/>
          <p:nvPr/>
        </p:nvPicPr>
        <p:blipFill>
          <a:blip r:embed="rId5">
            <a:alphaModFix/>
          </a:blip>
          <a:stretch>
            <a:fillRect/>
          </a:stretch>
        </p:blipFill>
        <p:spPr>
          <a:xfrm>
            <a:off x="6878917" y="1823825"/>
            <a:ext cx="5313083" cy="4038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2"/>
          <p:cNvSpPr txBox="1"/>
          <p:nvPr>
            <p:ph type="title"/>
          </p:nvPr>
        </p:nvSpPr>
        <p:spPr>
          <a:xfrm>
            <a:off x="1097280" y="-43179"/>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1800"/>
              <a:buNone/>
            </a:pPr>
            <a:r>
              <a:rPr lang="en-US" sz="4000"/>
              <a:t>D</a:t>
            </a:r>
            <a:r>
              <a:rPr lang="en-US" sz="4000"/>
              <a:t>. Startup Costs and the Balance Sheet</a:t>
            </a:r>
            <a:endParaRPr sz="3600"/>
          </a:p>
        </p:txBody>
      </p:sp>
      <p:pic>
        <p:nvPicPr>
          <p:cNvPr id="289" name="Google Shape;289;p32"/>
          <p:cNvPicPr preferRelativeResize="0"/>
          <p:nvPr/>
        </p:nvPicPr>
        <p:blipFill>
          <a:blip r:embed="rId3">
            <a:alphaModFix/>
          </a:blip>
          <a:stretch>
            <a:fillRect/>
          </a:stretch>
        </p:blipFill>
        <p:spPr>
          <a:xfrm>
            <a:off x="8351500" y="1829275"/>
            <a:ext cx="3118175" cy="4357175"/>
          </a:xfrm>
          <a:prstGeom prst="rect">
            <a:avLst/>
          </a:prstGeom>
          <a:noFill/>
          <a:ln>
            <a:noFill/>
          </a:ln>
        </p:spPr>
      </p:pic>
      <p:sp>
        <p:nvSpPr>
          <p:cNvPr id="290" name="Google Shape;290;p32"/>
          <p:cNvSpPr txBox="1"/>
          <p:nvPr/>
        </p:nvSpPr>
        <p:spPr>
          <a:xfrm>
            <a:off x="568975" y="1874650"/>
            <a:ext cx="2834700" cy="20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900"/>
              <a:t>Definition</a:t>
            </a:r>
            <a:endParaRPr b="1" sz="1900"/>
          </a:p>
          <a:p>
            <a:pPr indent="0" lvl="0" marL="0" rtl="0" algn="l">
              <a:spcBef>
                <a:spcPts val="0"/>
              </a:spcBef>
              <a:spcAft>
                <a:spcPts val="0"/>
              </a:spcAft>
              <a:buNone/>
            </a:pPr>
            <a:r>
              <a:t/>
            </a:r>
            <a:endParaRPr sz="1900"/>
          </a:p>
          <a:p>
            <a:pPr indent="0" lvl="0" marL="0" rtl="0" algn="l">
              <a:spcBef>
                <a:spcPts val="0"/>
              </a:spcBef>
              <a:spcAft>
                <a:spcPts val="0"/>
              </a:spcAft>
              <a:buNone/>
            </a:pPr>
            <a:r>
              <a:rPr lang="en-US" sz="1900"/>
              <a:t>Non-recurring costs associated with setting up a business, such as accountant's fees, legal fees, registration charges, as well as advertising, promotional activities, and employee training. Also called startup expenses, preliminary expenses, or pre-opening expenses.</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p:txBody>
      </p:sp>
      <p:pic>
        <p:nvPicPr>
          <p:cNvPr id="291" name="Google Shape;291;p32"/>
          <p:cNvPicPr preferRelativeResize="0"/>
          <p:nvPr/>
        </p:nvPicPr>
        <p:blipFill>
          <a:blip r:embed="rId4">
            <a:alphaModFix/>
          </a:blip>
          <a:stretch>
            <a:fillRect/>
          </a:stretch>
        </p:blipFill>
        <p:spPr>
          <a:xfrm>
            <a:off x="3495100" y="1895839"/>
            <a:ext cx="4560875" cy="4224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3"/>
          <p:cNvSpPr txBox="1"/>
          <p:nvPr>
            <p:ph type="title"/>
          </p:nvPr>
        </p:nvSpPr>
        <p:spPr>
          <a:xfrm>
            <a:off x="1097280" y="-43179"/>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1800"/>
              <a:buNone/>
            </a:pPr>
            <a:r>
              <a:rPr lang="en-US" sz="4000"/>
              <a:t>D</a:t>
            </a:r>
            <a:r>
              <a:rPr lang="en-US" sz="4000"/>
              <a:t>. The Balance Sheet</a:t>
            </a:r>
            <a:endParaRPr sz="3600"/>
          </a:p>
        </p:txBody>
      </p:sp>
      <p:pic>
        <p:nvPicPr>
          <p:cNvPr id="297" name="Google Shape;297;p33"/>
          <p:cNvPicPr preferRelativeResize="0"/>
          <p:nvPr/>
        </p:nvPicPr>
        <p:blipFill>
          <a:blip r:embed="rId3">
            <a:alphaModFix/>
          </a:blip>
          <a:stretch>
            <a:fillRect/>
          </a:stretch>
        </p:blipFill>
        <p:spPr>
          <a:xfrm>
            <a:off x="4351350" y="3397737"/>
            <a:ext cx="2506650" cy="2775750"/>
          </a:xfrm>
          <a:prstGeom prst="rect">
            <a:avLst/>
          </a:prstGeom>
          <a:noFill/>
          <a:ln>
            <a:noFill/>
          </a:ln>
        </p:spPr>
      </p:pic>
      <p:pic>
        <p:nvPicPr>
          <p:cNvPr id="298" name="Google Shape;298;p33"/>
          <p:cNvPicPr preferRelativeResize="0"/>
          <p:nvPr/>
        </p:nvPicPr>
        <p:blipFill>
          <a:blip r:embed="rId4">
            <a:alphaModFix/>
          </a:blip>
          <a:stretch>
            <a:fillRect/>
          </a:stretch>
        </p:blipFill>
        <p:spPr>
          <a:xfrm>
            <a:off x="526375" y="3312425"/>
            <a:ext cx="3748775" cy="2479025"/>
          </a:xfrm>
          <a:prstGeom prst="rect">
            <a:avLst/>
          </a:prstGeom>
          <a:noFill/>
          <a:ln>
            <a:noFill/>
          </a:ln>
        </p:spPr>
      </p:pic>
      <p:sp>
        <p:nvSpPr>
          <p:cNvPr id="299" name="Google Shape;299;p33"/>
          <p:cNvSpPr txBox="1"/>
          <p:nvPr/>
        </p:nvSpPr>
        <p:spPr>
          <a:xfrm>
            <a:off x="1097275" y="1808675"/>
            <a:ext cx="5760600" cy="11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rgbClr val="111111"/>
                </a:solidFill>
                <a:highlight>
                  <a:srgbClr val="FFFFFF"/>
                </a:highlight>
              </a:rPr>
              <a:t>Definition</a:t>
            </a:r>
            <a:endParaRPr b="1" sz="1300">
              <a:solidFill>
                <a:srgbClr val="111111"/>
              </a:solidFill>
              <a:highlight>
                <a:srgbClr val="FFFFFF"/>
              </a:highlight>
            </a:endParaRPr>
          </a:p>
          <a:p>
            <a:pPr indent="0" lvl="0" marL="0" rtl="0" algn="l">
              <a:spcBef>
                <a:spcPts val="0"/>
              </a:spcBef>
              <a:spcAft>
                <a:spcPts val="0"/>
              </a:spcAft>
              <a:buNone/>
            </a:pPr>
            <a:r>
              <a:rPr lang="en-US" sz="1300">
                <a:solidFill>
                  <a:srgbClr val="111111"/>
                </a:solidFill>
                <a:highlight>
                  <a:srgbClr val="FFFFFF"/>
                </a:highlight>
              </a:rPr>
              <a:t>A balance sheet is a financial statement that reports a company's assets, liabilities and shareholders' equity at a specific point in time, and provides a basis for computing rates of return and evaluating its </a:t>
            </a:r>
            <a:r>
              <a:rPr lang="en-US" sz="1300" u="sng">
                <a:solidFill>
                  <a:srgbClr val="2C40D0"/>
                </a:solidFill>
                <a:highlight>
                  <a:srgbClr val="FFFFFF"/>
                </a:highlight>
                <a:hlinkClick r:id="rId5">
                  <a:extLst>
                    <a:ext uri="{A12FA001-AC4F-418D-AE19-62706E023703}">
                      <ahyp:hlinkClr val="tx"/>
                    </a:ext>
                  </a:extLst>
                </a:hlinkClick>
              </a:rPr>
              <a:t>capital structure</a:t>
            </a:r>
            <a:r>
              <a:rPr lang="en-US" sz="1300">
                <a:solidFill>
                  <a:srgbClr val="111111"/>
                </a:solidFill>
                <a:highlight>
                  <a:srgbClr val="FFFFFF"/>
                </a:highlight>
              </a:rPr>
              <a:t>. It is a financial statement that provides a snapshot of what a company owns and owes, as well as the amount invested by shareholders.</a:t>
            </a:r>
            <a:endParaRPr/>
          </a:p>
        </p:txBody>
      </p:sp>
      <p:pic>
        <p:nvPicPr>
          <p:cNvPr id="300" name="Google Shape;300;p33"/>
          <p:cNvPicPr preferRelativeResize="0"/>
          <p:nvPr/>
        </p:nvPicPr>
        <p:blipFill>
          <a:blip r:embed="rId6">
            <a:alphaModFix/>
          </a:blip>
          <a:stretch>
            <a:fillRect/>
          </a:stretch>
        </p:blipFill>
        <p:spPr>
          <a:xfrm>
            <a:off x="6934200" y="117275"/>
            <a:ext cx="5150175" cy="6248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par>
                                <p:cTn fill="hold" nodeType="with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4"/>
          <p:cNvSpPr txBox="1"/>
          <p:nvPr>
            <p:ph type="title"/>
          </p:nvPr>
        </p:nvSpPr>
        <p:spPr>
          <a:xfrm>
            <a:off x="1097280" y="-43179"/>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1800"/>
              <a:buNone/>
            </a:pPr>
            <a:r>
              <a:rPr lang="en-US" sz="4000"/>
              <a:t>D</a:t>
            </a:r>
            <a:r>
              <a:rPr lang="en-US" sz="4000"/>
              <a:t>. Statement of Cash Flows and Free Cash Flow</a:t>
            </a:r>
            <a:endParaRPr sz="3600"/>
          </a:p>
        </p:txBody>
      </p:sp>
      <p:sp>
        <p:nvSpPr>
          <p:cNvPr id="306" name="Google Shape;306;p34"/>
          <p:cNvSpPr txBox="1"/>
          <p:nvPr/>
        </p:nvSpPr>
        <p:spPr>
          <a:xfrm>
            <a:off x="426725" y="1828800"/>
            <a:ext cx="30000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141414"/>
                </a:solidFill>
                <a:latin typeface="Times New Roman"/>
                <a:ea typeface="Times New Roman"/>
                <a:cs typeface="Times New Roman"/>
                <a:sym typeface="Times New Roman"/>
              </a:rPr>
              <a:t>Cash Flow:</a:t>
            </a:r>
            <a:endParaRPr b="1" sz="1600">
              <a:solidFill>
                <a:srgbClr val="141414"/>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rgbClr val="141414"/>
              </a:solidFill>
              <a:latin typeface="Times New Roman"/>
              <a:ea typeface="Times New Roman"/>
              <a:cs typeface="Times New Roman"/>
              <a:sym typeface="Times New Roman"/>
            </a:endParaRPr>
          </a:p>
          <a:p>
            <a:pPr indent="0" lvl="0" marL="0" rtl="0" algn="l">
              <a:spcBef>
                <a:spcPts val="0"/>
              </a:spcBef>
              <a:spcAft>
                <a:spcPts val="0"/>
              </a:spcAft>
              <a:buNone/>
            </a:pPr>
            <a:r>
              <a:rPr b="1" lang="en-US" sz="1600">
                <a:solidFill>
                  <a:srgbClr val="141414"/>
                </a:solidFill>
                <a:latin typeface="Times New Roman"/>
                <a:ea typeface="Times New Roman"/>
                <a:cs typeface="Times New Roman"/>
                <a:sym typeface="Times New Roman"/>
              </a:rPr>
              <a:t>Definition:</a:t>
            </a:r>
            <a:r>
              <a:rPr lang="en-US" sz="1600">
                <a:solidFill>
                  <a:srgbClr val="141414"/>
                </a:solidFill>
                <a:highlight>
                  <a:srgbClr val="FFFFFF"/>
                </a:highlight>
                <a:latin typeface="Times New Roman"/>
                <a:ea typeface="Times New Roman"/>
                <a:cs typeface="Times New Roman"/>
                <a:sym typeface="Times New Roman"/>
              </a:rPr>
              <a:t> </a:t>
            </a:r>
            <a:r>
              <a:rPr i="1" lang="en-US" sz="1600">
                <a:solidFill>
                  <a:schemeClr val="dk1"/>
                </a:solidFill>
                <a:latin typeface="Times New Roman"/>
                <a:ea typeface="Times New Roman"/>
                <a:cs typeface="Times New Roman"/>
                <a:sym typeface="Times New Roman"/>
              </a:rPr>
              <a:t>The difference between the available cash at the beginning of an accounting period and that at the end of the period. Cash comes in from sales, loan proceeds, investments and the sale of assets and goes out to pay for operating and direct expenses, principal debt service, and the purchase of asset</a:t>
            </a:r>
            <a:endParaRPr sz="1800"/>
          </a:p>
        </p:txBody>
      </p:sp>
      <p:pic>
        <p:nvPicPr>
          <p:cNvPr id="307" name="Google Shape;307;p34"/>
          <p:cNvPicPr preferRelativeResize="0"/>
          <p:nvPr/>
        </p:nvPicPr>
        <p:blipFill>
          <a:blip r:embed="rId3">
            <a:alphaModFix/>
          </a:blip>
          <a:stretch>
            <a:fillRect/>
          </a:stretch>
        </p:blipFill>
        <p:spPr>
          <a:xfrm>
            <a:off x="3477550" y="1828800"/>
            <a:ext cx="2968446" cy="2223125"/>
          </a:xfrm>
          <a:prstGeom prst="rect">
            <a:avLst/>
          </a:prstGeom>
          <a:noFill/>
          <a:ln>
            <a:noFill/>
          </a:ln>
        </p:spPr>
      </p:pic>
      <p:pic>
        <p:nvPicPr>
          <p:cNvPr id="308" name="Google Shape;308;p34"/>
          <p:cNvPicPr preferRelativeResize="0"/>
          <p:nvPr/>
        </p:nvPicPr>
        <p:blipFill>
          <a:blip r:embed="rId4">
            <a:alphaModFix/>
          </a:blip>
          <a:stretch>
            <a:fillRect/>
          </a:stretch>
        </p:blipFill>
        <p:spPr>
          <a:xfrm>
            <a:off x="5512700" y="3353251"/>
            <a:ext cx="6017924" cy="2769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100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10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5"/>
          <p:cNvSpPr txBox="1"/>
          <p:nvPr>
            <p:ph type="title"/>
          </p:nvPr>
        </p:nvSpPr>
        <p:spPr>
          <a:xfrm>
            <a:off x="1097280" y="-43179"/>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1800"/>
              <a:buNone/>
            </a:pPr>
            <a:r>
              <a:rPr lang="en-US" sz="4000"/>
              <a:t>D</a:t>
            </a:r>
            <a:r>
              <a:rPr lang="en-US" sz="4000"/>
              <a:t>. Variable and Fixed Costs and Break-Even Analysis (dollars, units)</a:t>
            </a:r>
            <a:endParaRPr sz="3600"/>
          </a:p>
        </p:txBody>
      </p:sp>
      <p:sp>
        <p:nvSpPr>
          <p:cNvPr id="314" name="Google Shape;314;p35"/>
          <p:cNvSpPr txBox="1"/>
          <p:nvPr/>
        </p:nvSpPr>
        <p:spPr>
          <a:xfrm>
            <a:off x="944875" y="1808675"/>
            <a:ext cx="2163000" cy="281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rgbClr val="111111"/>
                </a:solidFill>
                <a:highlight>
                  <a:srgbClr val="FFFFFF"/>
                </a:highlight>
              </a:rPr>
              <a:t>Definition</a:t>
            </a:r>
            <a:endParaRPr b="1" sz="1300">
              <a:solidFill>
                <a:srgbClr val="111111"/>
              </a:solidFill>
              <a:highlight>
                <a:srgbClr val="FFFFFF"/>
              </a:highlight>
            </a:endParaRPr>
          </a:p>
          <a:p>
            <a:pPr indent="0" lvl="0" marL="0" rtl="0" algn="l">
              <a:spcBef>
                <a:spcPts val="0"/>
              </a:spcBef>
              <a:spcAft>
                <a:spcPts val="0"/>
              </a:spcAft>
              <a:buNone/>
            </a:pPr>
            <a:r>
              <a:t/>
            </a:r>
            <a:endParaRPr sz="1300">
              <a:solidFill>
                <a:srgbClr val="111111"/>
              </a:solidFill>
              <a:highlight>
                <a:srgbClr val="FFFFFF"/>
              </a:highlight>
            </a:endParaRPr>
          </a:p>
          <a:p>
            <a:pPr indent="0" lvl="0" marL="0" rtl="0" algn="l">
              <a:spcBef>
                <a:spcPts val="0"/>
              </a:spcBef>
              <a:spcAft>
                <a:spcPts val="0"/>
              </a:spcAft>
              <a:buNone/>
            </a:pPr>
            <a:r>
              <a:rPr b="1" lang="en-US" sz="1300">
                <a:solidFill>
                  <a:srgbClr val="111111"/>
                </a:solidFill>
                <a:highlight>
                  <a:srgbClr val="FFFFFF"/>
                </a:highlight>
              </a:rPr>
              <a:t>Break-Even Point</a:t>
            </a:r>
            <a:endParaRPr b="1" sz="1300">
              <a:solidFill>
                <a:srgbClr val="111111"/>
              </a:solidFill>
              <a:highlight>
                <a:srgbClr val="FFFFFF"/>
              </a:highlight>
            </a:endParaRPr>
          </a:p>
          <a:p>
            <a:pPr indent="0" lvl="0" marL="0" rtl="0" algn="l">
              <a:spcBef>
                <a:spcPts val="0"/>
              </a:spcBef>
              <a:spcAft>
                <a:spcPts val="0"/>
              </a:spcAft>
              <a:buNone/>
            </a:pPr>
            <a:r>
              <a:rPr lang="en-US" sz="1200">
                <a:solidFill>
                  <a:srgbClr val="222222"/>
                </a:solidFill>
                <a:highlight>
                  <a:srgbClr val="FFFFFF"/>
                </a:highlight>
              </a:rPr>
              <a:t>The point at which total revenue equals total costs or expenses.</a:t>
            </a:r>
            <a:endParaRPr/>
          </a:p>
        </p:txBody>
      </p:sp>
      <p:pic>
        <p:nvPicPr>
          <p:cNvPr id="315" name="Google Shape;315;p35"/>
          <p:cNvPicPr preferRelativeResize="0"/>
          <p:nvPr/>
        </p:nvPicPr>
        <p:blipFill>
          <a:blip r:embed="rId3">
            <a:alphaModFix/>
          </a:blip>
          <a:stretch>
            <a:fillRect/>
          </a:stretch>
        </p:blipFill>
        <p:spPr>
          <a:xfrm>
            <a:off x="3118050" y="1808676"/>
            <a:ext cx="4622925" cy="2635050"/>
          </a:xfrm>
          <a:prstGeom prst="rect">
            <a:avLst/>
          </a:prstGeom>
          <a:noFill/>
          <a:ln>
            <a:noFill/>
          </a:ln>
        </p:spPr>
      </p:pic>
      <p:pic>
        <p:nvPicPr>
          <p:cNvPr id="316" name="Google Shape;316;p35"/>
          <p:cNvPicPr preferRelativeResize="0"/>
          <p:nvPr/>
        </p:nvPicPr>
        <p:blipFill>
          <a:blip r:embed="rId4">
            <a:alphaModFix/>
          </a:blip>
          <a:stretch>
            <a:fillRect/>
          </a:stretch>
        </p:blipFill>
        <p:spPr>
          <a:xfrm>
            <a:off x="8167675" y="1928894"/>
            <a:ext cx="3262300" cy="1811379"/>
          </a:xfrm>
          <a:prstGeom prst="rect">
            <a:avLst/>
          </a:prstGeom>
          <a:noFill/>
          <a:ln>
            <a:noFill/>
          </a:ln>
        </p:spPr>
      </p:pic>
      <p:sp>
        <p:nvSpPr>
          <p:cNvPr id="317" name="Google Shape;317;p35"/>
          <p:cNvSpPr txBox="1"/>
          <p:nvPr/>
        </p:nvSpPr>
        <p:spPr>
          <a:xfrm>
            <a:off x="8269275" y="3740275"/>
            <a:ext cx="23571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latin typeface="Calibri"/>
                <a:ea typeface="Calibri"/>
                <a:cs typeface="Calibri"/>
                <a:sym typeface="Calibri"/>
              </a:rPr>
              <a:t>SP - VC = Contribution Margin</a:t>
            </a:r>
            <a:endParaRPr sz="1000">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000"/>
                                        <p:tgtEl>
                                          <p:spTgt spid="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6"/>
          <p:cNvSpPr txBox="1"/>
          <p:nvPr>
            <p:ph type="title"/>
          </p:nvPr>
        </p:nvSpPr>
        <p:spPr>
          <a:xfrm>
            <a:off x="1097280" y="-43179"/>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1800"/>
              <a:buNone/>
            </a:pPr>
            <a:r>
              <a:rPr lang="en-US" sz="4000"/>
              <a:t>D. Recommended Approach</a:t>
            </a:r>
            <a:endParaRPr sz="3600"/>
          </a:p>
        </p:txBody>
      </p:sp>
      <p:sp>
        <p:nvSpPr>
          <p:cNvPr id="323" name="Google Shape;323;p36"/>
          <p:cNvSpPr txBox="1"/>
          <p:nvPr/>
        </p:nvSpPr>
        <p:spPr>
          <a:xfrm>
            <a:off x="1360475" y="1996550"/>
            <a:ext cx="3190200" cy="26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Calibri"/>
                <a:ea typeface="Calibri"/>
                <a:cs typeface="Calibri"/>
                <a:sym typeface="Calibri"/>
              </a:rPr>
              <a:t>There are a few videos and templates from various sources under the google-folder (link below).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Your focus for the College Leap Competition = a </a:t>
            </a:r>
            <a:r>
              <a:rPr b="1" lang="en-US">
                <a:highlight>
                  <a:srgbClr val="FFFF00"/>
                </a:highlight>
                <a:latin typeface="Calibri"/>
                <a:ea typeface="Calibri"/>
                <a:cs typeface="Calibri"/>
                <a:sym typeface="Calibri"/>
              </a:rPr>
              <a:t>5-year Income Statement Projection</a:t>
            </a:r>
            <a:r>
              <a:rPr lang="en-US">
                <a:latin typeface="Calibri"/>
                <a:ea typeface="Calibri"/>
                <a:cs typeface="Calibri"/>
                <a:sym typeface="Calibri"/>
              </a:rPr>
              <a:t>, therefore you may want to use either the SCORE or TSAI as templates that you should modify to fit your situation.</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324" name="Google Shape;324;p36"/>
          <p:cNvSpPr txBox="1"/>
          <p:nvPr/>
        </p:nvSpPr>
        <p:spPr>
          <a:xfrm>
            <a:off x="1410675" y="4482925"/>
            <a:ext cx="2388300" cy="97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3"/>
              </a:rPr>
              <a:t>https://drive.google.com/drive/folders/1KvZYi4l4PUAhxwLG8SduF5gUmitY-U-w?usp=sharing</a:t>
            </a:r>
            <a:endParaRPr/>
          </a:p>
        </p:txBody>
      </p:sp>
      <p:sp>
        <p:nvSpPr>
          <p:cNvPr id="325" name="Google Shape;325;p36"/>
          <p:cNvSpPr txBox="1"/>
          <p:nvPr/>
        </p:nvSpPr>
        <p:spPr>
          <a:xfrm>
            <a:off x="4977450" y="1925425"/>
            <a:ext cx="6421200" cy="4013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Calibri"/>
              <a:buAutoNum type="arabicPeriod"/>
            </a:pPr>
            <a:r>
              <a:rPr b="1" lang="en-US">
                <a:latin typeface="Calibri"/>
                <a:ea typeface="Calibri"/>
                <a:cs typeface="Calibri"/>
                <a:sym typeface="Calibri"/>
              </a:rPr>
              <a:t>Sales/Revenue Projections: Sales Price x Units Sold</a:t>
            </a:r>
            <a:endParaRPr>
              <a:latin typeface="Calibri"/>
              <a:ea typeface="Calibri"/>
              <a:cs typeface="Calibri"/>
              <a:sym typeface="Calibri"/>
            </a:endParaRPr>
          </a:p>
          <a:p>
            <a:pPr indent="-317500" lvl="1" marL="914400" rtl="0" algn="l">
              <a:spcBef>
                <a:spcPts val="0"/>
              </a:spcBef>
              <a:spcAft>
                <a:spcPts val="0"/>
              </a:spcAft>
              <a:buSzPts val="1400"/>
              <a:buFont typeface="Calibri"/>
              <a:buAutoNum type="alphaLcPeriod"/>
            </a:pPr>
            <a:r>
              <a:rPr lang="en-US">
                <a:latin typeface="Calibri"/>
                <a:ea typeface="Calibri"/>
                <a:cs typeface="Calibri"/>
                <a:sym typeface="Calibri"/>
              </a:rPr>
              <a:t>Determine Unit of Product or Service</a:t>
            </a:r>
            <a:endParaRPr>
              <a:latin typeface="Calibri"/>
              <a:ea typeface="Calibri"/>
              <a:cs typeface="Calibri"/>
              <a:sym typeface="Calibri"/>
            </a:endParaRPr>
          </a:p>
          <a:p>
            <a:pPr indent="-317500" lvl="1" marL="914400" rtl="0" algn="l">
              <a:spcBef>
                <a:spcPts val="0"/>
              </a:spcBef>
              <a:spcAft>
                <a:spcPts val="0"/>
              </a:spcAft>
              <a:buSzPts val="1400"/>
              <a:buFont typeface="Calibri"/>
              <a:buAutoNum type="alphaLcPeriod"/>
            </a:pPr>
            <a:r>
              <a:rPr lang="en-US">
                <a:latin typeface="Calibri"/>
                <a:ea typeface="Calibri"/>
                <a:cs typeface="Calibri"/>
                <a:sym typeface="Calibri"/>
              </a:rPr>
              <a:t>Estimate Unit’s Cost </a:t>
            </a:r>
            <a:endParaRPr>
              <a:latin typeface="Calibri"/>
              <a:ea typeface="Calibri"/>
              <a:cs typeface="Calibri"/>
              <a:sym typeface="Calibri"/>
            </a:endParaRPr>
          </a:p>
          <a:p>
            <a:pPr indent="-317500" lvl="1" marL="914400" rtl="0" algn="l">
              <a:spcBef>
                <a:spcPts val="0"/>
              </a:spcBef>
              <a:spcAft>
                <a:spcPts val="0"/>
              </a:spcAft>
              <a:buSzPts val="1400"/>
              <a:buFont typeface="Calibri"/>
              <a:buAutoNum type="alphaLcPeriod"/>
            </a:pPr>
            <a:r>
              <a:rPr lang="en-US">
                <a:latin typeface="Calibri"/>
                <a:ea typeface="Calibri"/>
                <a:cs typeface="Calibri"/>
                <a:sym typeface="Calibri"/>
              </a:rPr>
              <a:t>Estimate Total Demand for Product Service</a:t>
            </a:r>
            <a:endParaRPr>
              <a:latin typeface="Calibri"/>
              <a:ea typeface="Calibri"/>
              <a:cs typeface="Calibri"/>
              <a:sym typeface="Calibri"/>
            </a:endParaRPr>
          </a:p>
          <a:p>
            <a:pPr indent="-317500" lvl="1" marL="914400" rtl="0" algn="l">
              <a:spcBef>
                <a:spcPts val="0"/>
              </a:spcBef>
              <a:spcAft>
                <a:spcPts val="0"/>
              </a:spcAft>
              <a:buSzPts val="1400"/>
              <a:buFont typeface="Calibri"/>
              <a:buAutoNum type="alphaLcPeriod"/>
            </a:pPr>
            <a:r>
              <a:rPr lang="en-US">
                <a:latin typeface="Calibri"/>
                <a:ea typeface="Calibri"/>
                <a:cs typeface="Calibri"/>
                <a:sym typeface="Calibri"/>
              </a:rPr>
              <a:t>Determine Price per Unit of Sale</a:t>
            </a:r>
            <a:endParaRPr>
              <a:latin typeface="Calibri"/>
              <a:ea typeface="Calibri"/>
              <a:cs typeface="Calibri"/>
              <a:sym typeface="Calibri"/>
            </a:endParaRPr>
          </a:p>
          <a:p>
            <a:pPr indent="-317500" lvl="0" marL="457200" rtl="0" algn="l">
              <a:spcBef>
                <a:spcPts val="0"/>
              </a:spcBef>
              <a:spcAft>
                <a:spcPts val="0"/>
              </a:spcAft>
              <a:buSzPts val="1400"/>
              <a:buFont typeface="Calibri"/>
              <a:buAutoNum type="arabicPeriod"/>
            </a:pPr>
            <a:r>
              <a:rPr b="1" lang="en-US">
                <a:solidFill>
                  <a:schemeClr val="dk1"/>
                </a:solidFill>
                <a:latin typeface="Calibri"/>
                <a:ea typeface="Calibri"/>
                <a:cs typeface="Calibri"/>
                <a:sym typeface="Calibri"/>
              </a:rPr>
              <a:t>Estimate Start-Up Costs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AutoNum type="arabicPeriod"/>
            </a:pPr>
            <a:r>
              <a:rPr b="1" lang="en-US">
                <a:solidFill>
                  <a:schemeClr val="dk1"/>
                </a:solidFill>
                <a:latin typeface="Calibri"/>
                <a:ea typeface="Calibri"/>
                <a:cs typeface="Calibri"/>
                <a:sym typeface="Calibri"/>
              </a:rPr>
              <a:t>Estimate Operating Costs</a:t>
            </a:r>
            <a:r>
              <a:rPr lang="en-US">
                <a:solidFill>
                  <a:schemeClr val="dk1"/>
                </a:solidFill>
                <a:latin typeface="Calibri"/>
                <a:ea typeface="Calibri"/>
                <a:cs typeface="Calibri"/>
                <a:sym typeface="Calibri"/>
              </a:rPr>
              <a:t> for first month and for the following 12-months, stating your assumptions for changes.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AutoNum type="arabicPeriod"/>
            </a:pPr>
            <a:r>
              <a:rPr lang="en-US">
                <a:solidFill>
                  <a:schemeClr val="dk1"/>
                </a:solidFill>
                <a:latin typeface="Calibri"/>
                <a:ea typeface="Calibri"/>
                <a:cs typeface="Calibri"/>
                <a:sym typeface="Calibri"/>
              </a:rPr>
              <a:t>If you want to show break-even (not requested for this competition), you should also categorize each of the costs above as either FIXED or VARIABLE</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AutoNum type="arabicPeriod"/>
            </a:pPr>
            <a:r>
              <a:rPr b="1" lang="en-US">
                <a:solidFill>
                  <a:schemeClr val="dk1"/>
                </a:solidFill>
                <a:latin typeface="Calibri"/>
                <a:ea typeface="Calibri"/>
                <a:cs typeface="Calibri"/>
                <a:sym typeface="Calibri"/>
              </a:rPr>
              <a:t>Construct your 12-month Income Statement Projection</a:t>
            </a:r>
            <a:r>
              <a:rPr lang="en-US">
                <a:solidFill>
                  <a:schemeClr val="dk1"/>
                </a:solidFill>
                <a:latin typeface="Calibri"/>
                <a:ea typeface="Calibri"/>
                <a:cs typeface="Calibri"/>
                <a:sym typeface="Calibri"/>
              </a:rPr>
              <a:t> given the above.</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AutoNum type="arabicPeriod"/>
            </a:pPr>
            <a:r>
              <a:rPr b="1" lang="en-US">
                <a:solidFill>
                  <a:schemeClr val="dk1"/>
                </a:solidFill>
                <a:latin typeface="Calibri"/>
                <a:ea typeface="Calibri"/>
                <a:cs typeface="Calibri"/>
                <a:sym typeface="Calibri"/>
              </a:rPr>
              <a:t>Construct the following yearly projections (Years 2-5)</a:t>
            </a:r>
            <a:r>
              <a:rPr lang="en-US">
                <a:solidFill>
                  <a:schemeClr val="dk1"/>
                </a:solidFill>
                <a:latin typeface="Calibri"/>
                <a:ea typeface="Calibri"/>
                <a:cs typeface="Calibri"/>
                <a:sym typeface="Calibri"/>
              </a:rPr>
              <a:t>, given growth factors or other changes within each year -- state your assumptions.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AutoNum type="arabicPeriod"/>
            </a:pPr>
            <a:r>
              <a:rPr lang="en-US">
                <a:solidFill>
                  <a:schemeClr val="dk1"/>
                </a:solidFill>
                <a:latin typeface="Calibri"/>
                <a:ea typeface="Calibri"/>
                <a:cs typeface="Calibri"/>
                <a:sym typeface="Calibri"/>
              </a:rPr>
              <a:t>Note that I have added a cash flow section to the 5-yr income statement tab in the SCORE template.</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1000"/>
                                        <p:tgtEl>
                                          <p:spTgt spid="3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1000"/>
                                        <p:tgtEl>
                                          <p:spTgt spid="3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7"/>
          <p:cNvSpPr txBox="1"/>
          <p:nvPr>
            <p:ph type="title"/>
          </p:nvPr>
        </p:nvSpPr>
        <p:spPr>
          <a:xfrm>
            <a:off x="1097280" y="-43179"/>
            <a:ext cx="10058400" cy="145080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1800"/>
              <a:buNone/>
            </a:pPr>
            <a:r>
              <a:rPr lang="en-US" sz="4000"/>
              <a:t>E. Other Considerations </a:t>
            </a:r>
            <a:endParaRPr sz="3600"/>
          </a:p>
        </p:txBody>
      </p:sp>
      <p:sp>
        <p:nvSpPr>
          <p:cNvPr id="331" name="Google Shape;331;p37"/>
          <p:cNvSpPr txBox="1"/>
          <p:nvPr/>
        </p:nvSpPr>
        <p:spPr>
          <a:xfrm>
            <a:off x="1360475" y="1996550"/>
            <a:ext cx="8270100" cy="26214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SzPts val="1700"/>
              <a:buFont typeface="Calibri"/>
              <a:buChar char="●"/>
            </a:pPr>
            <a:r>
              <a:rPr lang="en-US" sz="1700">
                <a:latin typeface="Calibri"/>
                <a:ea typeface="Calibri"/>
                <a:cs typeface="Calibri"/>
                <a:sym typeface="Calibri"/>
              </a:rPr>
              <a:t>Accrual vs Cash Accounting </a:t>
            </a:r>
            <a:endParaRPr sz="1700">
              <a:latin typeface="Calibri"/>
              <a:ea typeface="Calibri"/>
              <a:cs typeface="Calibri"/>
              <a:sym typeface="Calibri"/>
            </a:endParaRPr>
          </a:p>
          <a:p>
            <a:pPr indent="-336550" lvl="0" marL="457200" rtl="0" algn="l">
              <a:spcBef>
                <a:spcPts val="0"/>
              </a:spcBef>
              <a:spcAft>
                <a:spcPts val="0"/>
              </a:spcAft>
              <a:buSzPts val="1700"/>
              <a:buFont typeface="Calibri"/>
              <a:buChar char="●"/>
            </a:pPr>
            <a:r>
              <a:rPr lang="en-US" sz="1700">
                <a:latin typeface="Calibri"/>
                <a:ea typeface="Calibri"/>
                <a:cs typeface="Calibri"/>
                <a:sym typeface="Calibri"/>
              </a:rPr>
              <a:t>Time Value of Money</a:t>
            </a:r>
            <a:endParaRPr sz="1700">
              <a:latin typeface="Calibri"/>
              <a:ea typeface="Calibri"/>
              <a:cs typeface="Calibri"/>
              <a:sym typeface="Calibri"/>
            </a:endParaRPr>
          </a:p>
          <a:p>
            <a:pPr indent="0" lvl="0" marL="457200" rtl="0" algn="l">
              <a:spcBef>
                <a:spcPts val="0"/>
              </a:spcBef>
              <a:spcAft>
                <a:spcPts val="0"/>
              </a:spcAft>
              <a:buNone/>
            </a:pPr>
            <a:r>
              <a:t/>
            </a:r>
            <a:endParaRPr sz="1700">
              <a:latin typeface="Calibri"/>
              <a:ea typeface="Calibri"/>
              <a:cs typeface="Calibri"/>
              <a:sym typeface="Calibri"/>
            </a:endParaRPr>
          </a:p>
        </p:txBody>
      </p:sp>
      <p:sp>
        <p:nvSpPr>
          <p:cNvPr id="332" name="Google Shape;332;p37"/>
          <p:cNvSpPr txBox="1"/>
          <p:nvPr/>
        </p:nvSpPr>
        <p:spPr>
          <a:xfrm>
            <a:off x="1635750" y="4988550"/>
            <a:ext cx="9031200" cy="97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3"/>
              </a:rPr>
              <a:t>https://drive.google.com/drive/folders/1KvZYi4l4PUAhxwLG8SduF5gUmitY-U-w?usp=sharing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